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6" r:id="rId4"/>
    <p:sldId id="293" r:id="rId5"/>
    <p:sldId id="297" r:id="rId7"/>
    <p:sldId id="292" r:id="rId8"/>
    <p:sldId id="294" r:id="rId9"/>
    <p:sldId id="28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0F828-09B2-4C93-8F08-4594321A6912}">
          <p14:sldIdLst>
            <p14:sldId id="256"/>
            <p14:sldId id="293"/>
            <p14:sldId id="297"/>
            <p14:sldId id="292"/>
            <p14:sldId id="294"/>
            <p14:sldId id="28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315"/>
    <a:srgbClr val="0066FF"/>
    <a:srgbClr val="007F00"/>
    <a:srgbClr val="0707EC"/>
    <a:srgbClr val="FF0000"/>
    <a:srgbClr val="00FFFF"/>
    <a:srgbClr val="FFFFFF"/>
    <a:srgbClr val="1F77B4"/>
    <a:srgbClr val="C65911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43" autoAdjust="0"/>
    <p:restoredTop sz="94349" autoAdjust="0"/>
  </p:normalViewPr>
  <p:slideViewPr>
    <p:cSldViewPr snapToGrid="0">
      <p:cViewPr varScale="1">
        <p:scale>
          <a:sx n="104" d="100"/>
          <a:sy n="104" d="100"/>
        </p:scale>
        <p:origin x="3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9E44A2-2B52-4256-B89C-75FDFBA2EF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80B4F-CB45-44AC-83C7-8D76FB976BE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C80B4F-CB45-44AC-83C7-8D76FB976B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C80B4F-CB45-44AC-83C7-8D76FB976B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C80B4F-CB45-44AC-83C7-8D76FB976B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C80B4F-CB45-44AC-83C7-8D76FB976B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C80B4F-CB45-44AC-83C7-8D76FB976B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3E80-46D5-4570-AC82-F5B8FD23DAC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8C972-191B-415A-A138-3F54AC74F40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ABD6C-3586-4BE7-A7F9-EE2FE1670C9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4EF5-0D6E-484A-9FB5-945EE5D2546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35EB7-F7C9-479A-BF94-62C4720E5192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56BA-57CF-4487-87F8-7FAF7C63FFCF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0B6B-92A0-44E6-9CE9-8F2B111CD84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76F88-DF23-4223-8C61-AAA6E5AEDDA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9514-8BFA-4017-83B8-92B7329BD21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CD14-7EB0-4550-98F7-5298B375D10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83D9-BEFC-4313-80A9-A630761DE67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3E80-46D5-4570-AC82-F5B8FD23DAC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8C972-191B-415A-A138-3F54AC74F40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ABD6C-3586-4BE7-A7F9-EE2FE1670C9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4EF5-0D6E-484A-9FB5-945EE5D2546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35EB7-F7C9-479A-BF94-62C4720E5192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56BA-57CF-4487-87F8-7FAF7C63FFCF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0B6B-92A0-44E6-9CE9-8F2B111CD84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76F88-DF23-4223-8C61-AAA6E5AEDDA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9514-8BFA-4017-83B8-92B7329BD21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CD14-7EB0-4550-98F7-5298B375D10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83D9-BEFC-4313-80A9-A630761DE67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C49E7-906C-4DC4-9F68-F2A3E2E3129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C49E7-906C-4DC4-9F68-F2A3E2E3129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LHCb underground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52" y="5211351"/>
            <a:ext cx="3915319" cy="82625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628" y="4829770"/>
            <a:ext cx="3190902" cy="158941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19288" y="5072915"/>
            <a:ext cx="1780341" cy="10689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945911" y="977326"/>
            <a:ext cx="8300176" cy="1319436"/>
          </a:xfrm>
        </p:spPr>
        <p:txBody>
          <a:bodyPr anchor="ctr">
            <a:normAutofit/>
          </a:bodyPr>
          <a:lstStyle/>
          <a:p>
            <a:r>
              <a:rPr lang="en-US" altLang="zh-CN" sz="3200" dirty="0">
                <a:solidFill>
                  <a:srgbClr val="0066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Tracking sequence</a:t>
            </a:r>
            <a:endParaRPr lang="zh-CN" altLang="en-US" sz="3200" dirty="0">
              <a:solidFill>
                <a:srgbClr val="0066FF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2888438" y="2641064"/>
            <a:ext cx="6415122" cy="1147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Yisheng Fu 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(IHEP/UCAS)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,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 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Xuhao Yuan 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(IHEP)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2642962" y="3788666"/>
            <a:ext cx="6906074" cy="7340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r>
              <a:rPr lang="en-US" altLang="zh-CN" sz="1800" dirty="0">
                <a:solidFill>
                  <a:srgbClr val="FFFF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Which report</a:t>
            </a:r>
            <a:endParaRPr lang="en-US" altLang="zh-CN" sz="1800" dirty="0">
              <a:solidFill>
                <a:srgbClr val="FFFFFF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800" dirty="0">
                <a:solidFill>
                  <a:schemeClr val="bg2">
                    <a:lumMod val="25000"/>
                  </a:schemeClr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05/08/2026</a:t>
            </a:r>
            <a:endParaRPr lang="zh-CN" altLang="en-US" sz="1800" dirty="0">
              <a:solidFill>
                <a:schemeClr val="bg2">
                  <a:lumMod val="25000"/>
                </a:schemeClr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4FB8-E38B-4E32-8A30-352D053C027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E60BB-3A46-4D7B-AFA4-FB6B303D35FB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266699" y="110232"/>
            <a:ext cx="8032173" cy="59372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0066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Sub-Detector</a:t>
            </a:r>
            <a:endParaRPr lang="zh-CN" altLang="en-US" sz="2800" dirty="0">
              <a:solidFill>
                <a:srgbClr val="0066FF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65686" y="407094"/>
            <a:ext cx="10028787" cy="5862764"/>
            <a:chOff x="127278" y="-52777"/>
            <a:chExt cx="11726985" cy="6855520"/>
          </a:xfrm>
        </p:grpSpPr>
        <p:grpSp>
          <p:nvGrpSpPr>
            <p:cNvPr id="6" name="Group 29"/>
            <p:cNvGrpSpPr/>
            <p:nvPr/>
          </p:nvGrpSpPr>
          <p:grpSpPr>
            <a:xfrm>
              <a:off x="319300" y="3019232"/>
              <a:ext cx="1800225" cy="1507075"/>
              <a:chOff x="314325" y="3257550"/>
              <a:chExt cx="1800225" cy="590550"/>
            </a:xfrm>
          </p:grpSpPr>
          <p:cxnSp>
            <p:nvCxnSpPr>
              <p:cNvPr id="78" name="Straight Connector 5"/>
              <p:cNvCxnSpPr/>
              <p:nvPr/>
            </p:nvCxnSpPr>
            <p:spPr>
              <a:xfrm>
                <a:off x="31432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6"/>
              <p:cNvCxnSpPr/>
              <p:nvPr/>
            </p:nvCxnSpPr>
            <p:spPr>
              <a:xfrm>
                <a:off x="39052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7"/>
              <p:cNvCxnSpPr/>
              <p:nvPr/>
            </p:nvCxnSpPr>
            <p:spPr>
              <a:xfrm>
                <a:off x="46672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"/>
              <p:cNvCxnSpPr/>
              <p:nvPr/>
            </p:nvCxnSpPr>
            <p:spPr>
              <a:xfrm>
                <a:off x="54292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9"/>
              <p:cNvCxnSpPr/>
              <p:nvPr/>
            </p:nvCxnSpPr>
            <p:spPr>
              <a:xfrm>
                <a:off x="6286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10"/>
              <p:cNvCxnSpPr/>
              <p:nvPr/>
            </p:nvCxnSpPr>
            <p:spPr>
              <a:xfrm>
                <a:off x="7048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11"/>
              <p:cNvCxnSpPr/>
              <p:nvPr/>
            </p:nvCxnSpPr>
            <p:spPr>
              <a:xfrm>
                <a:off x="7810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12"/>
              <p:cNvCxnSpPr/>
              <p:nvPr/>
            </p:nvCxnSpPr>
            <p:spPr>
              <a:xfrm>
                <a:off x="8572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13"/>
              <p:cNvCxnSpPr/>
              <p:nvPr/>
            </p:nvCxnSpPr>
            <p:spPr>
              <a:xfrm>
                <a:off x="9334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14"/>
              <p:cNvCxnSpPr/>
              <p:nvPr/>
            </p:nvCxnSpPr>
            <p:spPr>
              <a:xfrm>
                <a:off x="10096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15"/>
              <p:cNvCxnSpPr/>
              <p:nvPr/>
            </p:nvCxnSpPr>
            <p:spPr>
              <a:xfrm>
                <a:off x="10858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16"/>
              <p:cNvCxnSpPr/>
              <p:nvPr/>
            </p:nvCxnSpPr>
            <p:spPr>
              <a:xfrm>
                <a:off x="11620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17"/>
              <p:cNvCxnSpPr/>
              <p:nvPr/>
            </p:nvCxnSpPr>
            <p:spPr>
              <a:xfrm>
                <a:off x="124777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18"/>
              <p:cNvCxnSpPr/>
              <p:nvPr/>
            </p:nvCxnSpPr>
            <p:spPr>
              <a:xfrm>
                <a:off x="132397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19"/>
              <p:cNvCxnSpPr/>
              <p:nvPr/>
            </p:nvCxnSpPr>
            <p:spPr>
              <a:xfrm>
                <a:off x="140017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20"/>
              <p:cNvCxnSpPr/>
              <p:nvPr/>
            </p:nvCxnSpPr>
            <p:spPr>
              <a:xfrm>
                <a:off x="147637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21"/>
              <p:cNvCxnSpPr/>
              <p:nvPr/>
            </p:nvCxnSpPr>
            <p:spPr>
              <a:xfrm>
                <a:off x="157162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22"/>
              <p:cNvCxnSpPr/>
              <p:nvPr/>
            </p:nvCxnSpPr>
            <p:spPr>
              <a:xfrm>
                <a:off x="164782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23"/>
              <p:cNvCxnSpPr/>
              <p:nvPr/>
            </p:nvCxnSpPr>
            <p:spPr>
              <a:xfrm>
                <a:off x="172402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24"/>
              <p:cNvCxnSpPr/>
              <p:nvPr/>
            </p:nvCxnSpPr>
            <p:spPr>
              <a:xfrm>
                <a:off x="180022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25"/>
              <p:cNvCxnSpPr/>
              <p:nvPr/>
            </p:nvCxnSpPr>
            <p:spPr>
              <a:xfrm>
                <a:off x="18859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26"/>
              <p:cNvCxnSpPr/>
              <p:nvPr/>
            </p:nvCxnSpPr>
            <p:spPr>
              <a:xfrm>
                <a:off x="19621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27"/>
              <p:cNvCxnSpPr/>
              <p:nvPr/>
            </p:nvCxnSpPr>
            <p:spPr>
              <a:xfrm>
                <a:off x="20383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28"/>
              <p:cNvCxnSpPr/>
              <p:nvPr/>
            </p:nvCxnSpPr>
            <p:spPr>
              <a:xfrm>
                <a:off x="21145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35"/>
            <p:cNvGrpSpPr/>
            <p:nvPr/>
          </p:nvGrpSpPr>
          <p:grpSpPr>
            <a:xfrm>
              <a:off x="4095750" y="1993062"/>
              <a:ext cx="742950" cy="3129656"/>
              <a:chOff x="4095750" y="2295525"/>
              <a:chExt cx="742950" cy="2447925"/>
            </a:xfrm>
          </p:grpSpPr>
          <p:cxnSp>
            <p:nvCxnSpPr>
              <p:cNvPr id="72" name="Straight Connector 31"/>
              <p:cNvCxnSpPr/>
              <p:nvPr/>
            </p:nvCxnSpPr>
            <p:spPr>
              <a:xfrm>
                <a:off x="4095750" y="2295525"/>
                <a:ext cx="0" cy="244792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32"/>
              <p:cNvCxnSpPr/>
              <p:nvPr/>
            </p:nvCxnSpPr>
            <p:spPr>
              <a:xfrm>
                <a:off x="4257675" y="2295525"/>
                <a:ext cx="0" cy="244792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33"/>
              <p:cNvCxnSpPr/>
              <p:nvPr/>
            </p:nvCxnSpPr>
            <p:spPr>
              <a:xfrm>
                <a:off x="4676775" y="2295525"/>
                <a:ext cx="0" cy="244792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34"/>
              <p:cNvCxnSpPr/>
              <p:nvPr/>
            </p:nvCxnSpPr>
            <p:spPr>
              <a:xfrm>
                <a:off x="4838700" y="2295525"/>
                <a:ext cx="0" cy="244792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44"/>
            <p:cNvGrpSpPr/>
            <p:nvPr/>
          </p:nvGrpSpPr>
          <p:grpSpPr>
            <a:xfrm>
              <a:off x="8372475" y="800100"/>
              <a:ext cx="2828925" cy="5597760"/>
              <a:chOff x="8372475" y="800100"/>
              <a:chExt cx="2828925" cy="5597760"/>
            </a:xfrm>
          </p:grpSpPr>
          <p:cxnSp>
            <p:nvCxnSpPr>
              <p:cNvPr id="61" name="Straight Connector 37"/>
              <p:cNvCxnSpPr/>
              <p:nvPr/>
            </p:nvCxnSpPr>
            <p:spPr>
              <a:xfrm>
                <a:off x="8372475" y="800100"/>
                <a:ext cx="0" cy="559776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39"/>
              <p:cNvCxnSpPr/>
              <p:nvPr/>
            </p:nvCxnSpPr>
            <p:spPr>
              <a:xfrm>
                <a:off x="8610600" y="800100"/>
                <a:ext cx="0" cy="559776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40"/>
              <p:cNvCxnSpPr/>
              <p:nvPr/>
            </p:nvCxnSpPr>
            <p:spPr>
              <a:xfrm>
                <a:off x="9553575" y="800100"/>
                <a:ext cx="0" cy="559776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41"/>
              <p:cNvCxnSpPr/>
              <p:nvPr/>
            </p:nvCxnSpPr>
            <p:spPr>
              <a:xfrm>
                <a:off x="9791700" y="800100"/>
                <a:ext cx="0" cy="559776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42"/>
              <p:cNvCxnSpPr/>
              <p:nvPr/>
            </p:nvCxnSpPr>
            <p:spPr>
              <a:xfrm>
                <a:off x="10963275" y="800100"/>
                <a:ext cx="0" cy="559776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43"/>
              <p:cNvCxnSpPr/>
              <p:nvPr/>
            </p:nvCxnSpPr>
            <p:spPr>
              <a:xfrm>
                <a:off x="11201400" y="800100"/>
                <a:ext cx="0" cy="559776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rapezoid 45"/>
            <p:cNvSpPr/>
            <p:nvPr/>
          </p:nvSpPr>
          <p:spPr>
            <a:xfrm rot="16200000">
              <a:off x="3120682" y="1827171"/>
              <a:ext cx="6855520" cy="3095623"/>
            </a:xfrm>
            <a:prstGeom prst="trapezoid">
              <a:avLst>
                <a:gd name="adj" fmla="val 3654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cxnSp>
          <p:nvCxnSpPr>
            <p:cNvPr id="10" name="Straight Connector 49"/>
            <p:cNvCxnSpPr/>
            <p:nvPr/>
          </p:nvCxnSpPr>
          <p:spPr>
            <a:xfrm flipV="1">
              <a:off x="894431" y="3322624"/>
              <a:ext cx="1283433" cy="4051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: Shape 56"/>
            <p:cNvSpPr/>
            <p:nvPr/>
          </p:nvSpPr>
          <p:spPr>
            <a:xfrm rot="60000">
              <a:off x="5057775" y="2197675"/>
              <a:ext cx="3127791" cy="291249"/>
            </a:xfrm>
            <a:custGeom>
              <a:avLst/>
              <a:gdLst>
                <a:gd name="csX0" fmla="*/ 0 w 3127791"/>
                <a:gd name="csY0" fmla="*/ 328194 h 352743"/>
                <a:gd name="csX1" fmla="*/ 219075 w 3127791"/>
                <a:gd name="csY1" fmla="*/ 251994 h 352743"/>
                <a:gd name="csX2" fmla="*/ 742950 w 3127791"/>
                <a:gd name="csY2" fmla="*/ 109119 h 352743"/>
                <a:gd name="csX3" fmla="*/ 1009650 w 3127791"/>
                <a:gd name="csY3" fmla="*/ 51969 h 352743"/>
                <a:gd name="csX4" fmla="*/ 1314450 w 3127791"/>
                <a:gd name="csY4" fmla="*/ 4344 h 352743"/>
                <a:gd name="csX5" fmla="*/ 1476375 w 3127791"/>
                <a:gd name="csY5" fmla="*/ 4344 h 352743"/>
                <a:gd name="csX6" fmla="*/ 1809750 w 3127791"/>
                <a:gd name="csY6" fmla="*/ 23394 h 352743"/>
                <a:gd name="csX7" fmla="*/ 2324100 w 3127791"/>
                <a:gd name="csY7" fmla="*/ 137694 h 352743"/>
                <a:gd name="csX8" fmla="*/ 2447925 w 3127791"/>
                <a:gd name="csY8" fmla="*/ 166269 h 352743"/>
                <a:gd name="csX9" fmla="*/ 2905125 w 3127791"/>
                <a:gd name="csY9" fmla="*/ 290094 h 352743"/>
                <a:gd name="csX10" fmla="*/ 3105150 w 3127791"/>
                <a:gd name="csY10" fmla="*/ 347244 h 352743"/>
                <a:gd name="csX11" fmla="*/ 3114675 w 3127791"/>
                <a:gd name="csY11" fmla="*/ 347244 h 352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127791" h="352743">
                  <a:moveTo>
                    <a:pt x="0" y="328194"/>
                  </a:moveTo>
                  <a:cubicBezTo>
                    <a:pt x="47625" y="308350"/>
                    <a:pt x="95250" y="288506"/>
                    <a:pt x="219075" y="251994"/>
                  </a:cubicBezTo>
                  <a:cubicBezTo>
                    <a:pt x="342900" y="215481"/>
                    <a:pt x="611188" y="142456"/>
                    <a:pt x="742950" y="109119"/>
                  </a:cubicBezTo>
                  <a:cubicBezTo>
                    <a:pt x="874712" y="75782"/>
                    <a:pt x="914400" y="69431"/>
                    <a:pt x="1009650" y="51969"/>
                  </a:cubicBezTo>
                  <a:cubicBezTo>
                    <a:pt x="1104900" y="34507"/>
                    <a:pt x="1236663" y="12281"/>
                    <a:pt x="1314450" y="4344"/>
                  </a:cubicBezTo>
                  <a:cubicBezTo>
                    <a:pt x="1392238" y="-3594"/>
                    <a:pt x="1393825" y="1169"/>
                    <a:pt x="1476375" y="4344"/>
                  </a:cubicBezTo>
                  <a:cubicBezTo>
                    <a:pt x="1558925" y="7519"/>
                    <a:pt x="1668463" y="1169"/>
                    <a:pt x="1809750" y="23394"/>
                  </a:cubicBezTo>
                  <a:cubicBezTo>
                    <a:pt x="1951038" y="45619"/>
                    <a:pt x="2324100" y="137694"/>
                    <a:pt x="2324100" y="137694"/>
                  </a:cubicBezTo>
                  <a:lnTo>
                    <a:pt x="2447925" y="166269"/>
                  </a:lnTo>
                  <a:lnTo>
                    <a:pt x="2905125" y="290094"/>
                  </a:lnTo>
                  <a:cubicBezTo>
                    <a:pt x="3014662" y="320256"/>
                    <a:pt x="3105150" y="347244"/>
                    <a:pt x="3105150" y="347244"/>
                  </a:cubicBezTo>
                  <a:cubicBezTo>
                    <a:pt x="3140075" y="356769"/>
                    <a:pt x="3127375" y="352006"/>
                    <a:pt x="3114675" y="347244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6" name="Freeform: Shape 60"/>
            <p:cNvSpPr/>
            <p:nvPr/>
          </p:nvSpPr>
          <p:spPr>
            <a:xfrm rot="21540000">
              <a:off x="4006994" y="2493906"/>
              <a:ext cx="962026" cy="257175"/>
            </a:xfrm>
            <a:custGeom>
              <a:avLst/>
              <a:gdLst>
                <a:gd name="csX0" fmla="*/ 828675 w 828675"/>
                <a:gd name="csY0" fmla="*/ 0 h 257175"/>
                <a:gd name="csX1" fmla="*/ 523875 w 828675"/>
                <a:gd name="csY1" fmla="*/ 76200 h 257175"/>
                <a:gd name="csX2" fmla="*/ 190500 w 828675"/>
                <a:gd name="csY2" fmla="*/ 180975 h 257175"/>
                <a:gd name="csX3" fmla="*/ 0 w 828675"/>
                <a:gd name="csY3" fmla="*/ 257175 h 257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8675" h="257175">
                  <a:moveTo>
                    <a:pt x="828675" y="0"/>
                  </a:moveTo>
                  <a:cubicBezTo>
                    <a:pt x="729456" y="23018"/>
                    <a:pt x="630238" y="46037"/>
                    <a:pt x="523875" y="76200"/>
                  </a:cubicBezTo>
                  <a:cubicBezTo>
                    <a:pt x="417512" y="106363"/>
                    <a:pt x="277812" y="150813"/>
                    <a:pt x="190500" y="180975"/>
                  </a:cubicBezTo>
                  <a:cubicBezTo>
                    <a:pt x="103188" y="211137"/>
                    <a:pt x="51594" y="234156"/>
                    <a:pt x="0" y="257175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cxnSp>
          <p:nvCxnSpPr>
            <p:cNvPr id="17" name="Straight Connector 63"/>
            <p:cNvCxnSpPr/>
            <p:nvPr/>
          </p:nvCxnSpPr>
          <p:spPr>
            <a:xfrm flipH="1">
              <a:off x="2262400" y="2769175"/>
              <a:ext cx="1690475" cy="519545"/>
            </a:xfrm>
            <a:prstGeom prst="line">
              <a:avLst/>
            </a:prstGeom>
            <a:ln>
              <a:solidFill>
                <a:srgbClr val="7030A0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: Shape 67"/>
            <p:cNvSpPr/>
            <p:nvPr/>
          </p:nvSpPr>
          <p:spPr>
            <a:xfrm>
              <a:off x="8312727" y="2545770"/>
              <a:ext cx="3221182" cy="1485900"/>
            </a:xfrm>
            <a:custGeom>
              <a:avLst/>
              <a:gdLst>
                <a:gd name="csX0" fmla="*/ 0 w 3221182"/>
                <a:gd name="csY0" fmla="*/ 0 h 1485900"/>
                <a:gd name="csX1" fmla="*/ 550718 w 3221182"/>
                <a:gd name="csY1" fmla="*/ 176646 h 1485900"/>
                <a:gd name="csX2" fmla="*/ 1007918 w 3221182"/>
                <a:gd name="csY2" fmla="*/ 332510 h 1485900"/>
                <a:gd name="csX3" fmla="*/ 1465118 w 3221182"/>
                <a:gd name="csY3" fmla="*/ 550719 h 1485900"/>
                <a:gd name="csX4" fmla="*/ 1735282 w 3221182"/>
                <a:gd name="csY4" fmla="*/ 685800 h 1485900"/>
                <a:gd name="csX5" fmla="*/ 2286000 w 3221182"/>
                <a:gd name="csY5" fmla="*/ 955964 h 1485900"/>
                <a:gd name="csX6" fmla="*/ 2919846 w 3221182"/>
                <a:gd name="csY6" fmla="*/ 1319646 h 1485900"/>
                <a:gd name="csX7" fmla="*/ 3221182 w 3221182"/>
                <a:gd name="csY7" fmla="*/ 1485900 h 1485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221182" h="1485900">
                  <a:moveTo>
                    <a:pt x="0" y="0"/>
                  </a:moveTo>
                  <a:lnTo>
                    <a:pt x="550718" y="176646"/>
                  </a:lnTo>
                  <a:cubicBezTo>
                    <a:pt x="718704" y="232064"/>
                    <a:pt x="855518" y="270165"/>
                    <a:pt x="1007918" y="332510"/>
                  </a:cubicBezTo>
                  <a:cubicBezTo>
                    <a:pt x="1160318" y="394855"/>
                    <a:pt x="1343891" y="491837"/>
                    <a:pt x="1465118" y="550719"/>
                  </a:cubicBezTo>
                  <a:cubicBezTo>
                    <a:pt x="1586345" y="609601"/>
                    <a:pt x="1735282" y="685800"/>
                    <a:pt x="1735282" y="685800"/>
                  </a:cubicBezTo>
                  <a:cubicBezTo>
                    <a:pt x="1872096" y="753341"/>
                    <a:pt x="2088573" y="850323"/>
                    <a:pt x="2286000" y="955964"/>
                  </a:cubicBezTo>
                  <a:cubicBezTo>
                    <a:pt x="2483427" y="1061605"/>
                    <a:pt x="2763982" y="1231323"/>
                    <a:pt x="2919846" y="1319646"/>
                  </a:cubicBezTo>
                  <a:cubicBezTo>
                    <a:pt x="3075710" y="1407969"/>
                    <a:pt x="3148446" y="1446934"/>
                    <a:pt x="3221182" y="148590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0" name="TextBox 71"/>
            <p:cNvSpPr txBox="1"/>
            <p:nvPr/>
          </p:nvSpPr>
          <p:spPr>
            <a:xfrm>
              <a:off x="127278" y="2163589"/>
              <a:ext cx="2533657" cy="803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  <a:sym typeface="Wingdings" panose="05000000000000000000" pitchFamily="2" charset="2"/>
                </a:rPr>
                <a:t> </a:t>
              </a:r>
              <a:r>
                <a:rPr lang="en-US" sz="1400" b="1" dirty="0">
                  <a:solidFill>
                    <a:srgbClr val="00B050"/>
                  </a:solidFill>
                </a:rPr>
                <a:t>TV Standalone</a:t>
              </a:r>
              <a:br>
                <a:rPr lang="en-US" sz="1400" b="1" dirty="0">
                  <a:solidFill>
                    <a:srgbClr val="00B050"/>
                  </a:solidFill>
                </a:rPr>
              </a:br>
              <a:r>
                <a:rPr lang="en-US" sz="1200" b="1" dirty="0">
                  <a:solidFill>
                    <a:srgbClr val="00B050"/>
                  </a:solidFill>
                </a:rPr>
                <a:t>     </a:t>
              </a:r>
              <a:r>
                <a:rPr lang="en-US" sz="1200" dirty="0">
                  <a:solidFill>
                    <a:srgbClr val="00B050"/>
                  </a:solidFill>
                </a:rPr>
                <a:t>(TV1)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22" name="TextBox 72"/>
            <p:cNvSpPr txBox="1"/>
            <p:nvPr/>
          </p:nvSpPr>
          <p:spPr>
            <a:xfrm rot="21201068">
              <a:off x="2477491" y="1083770"/>
              <a:ext cx="2559800" cy="8532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B050"/>
                  </a:solidFill>
                  <a:sym typeface="Wingdings" panose="05000000000000000000" pitchFamily="2" charset="2"/>
                </a:rPr>
                <a:t> UP</a:t>
              </a:r>
              <a:r>
                <a:rPr lang="en-US" sz="1400" b="1" dirty="0">
                  <a:solidFill>
                    <a:srgbClr val="00B050"/>
                  </a:solidFill>
                </a:rPr>
                <a:t> Standalone</a:t>
              </a:r>
              <a:br>
                <a:rPr lang="en-US" sz="1400" b="1" dirty="0">
                  <a:solidFill>
                    <a:srgbClr val="00B050"/>
                  </a:solidFill>
                </a:rPr>
              </a:br>
              <a:r>
                <a:rPr lang="en-US" sz="1400" dirty="0">
                  <a:solidFill>
                    <a:srgbClr val="00B050"/>
                  </a:solidFill>
                </a:rPr>
                <a:t>(UP1)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23" name="TextBox 73"/>
            <p:cNvSpPr txBox="1"/>
            <p:nvPr/>
          </p:nvSpPr>
          <p:spPr>
            <a:xfrm>
              <a:off x="7987376" y="263384"/>
              <a:ext cx="3866887" cy="5019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  <a:sym typeface="Wingdings" panose="05000000000000000000" pitchFamily="2" charset="2"/>
                </a:rPr>
                <a:t> MP/FT</a:t>
              </a:r>
              <a:r>
                <a:rPr lang="en-US" sz="1400" b="1" dirty="0">
                  <a:solidFill>
                    <a:srgbClr val="00B050"/>
                  </a:solidFill>
                </a:rPr>
                <a:t> Standalone </a:t>
              </a:r>
              <a:r>
                <a:rPr lang="en-US" sz="1400" dirty="0">
                  <a:solidFill>
                    <a:srgbClr val="00B050"/>
                  </a:solidFill>
                </a:rPr>
                <a:t>(MT1)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  <p:cxnSp>
          <p:nvCxnSpPr>
            <p:cNvPr id="33" name="Straight Connector 76"/>
            <p:cNvCxnSpPr/>
            <p:nvPr/>
          </p:nvCxnSpPr>
          <p:spPr>
            <a:xfrm rot="21154748">
              <a:off x="892266" y="3782977"/>
              <a:ext cx="1191815" cy="38073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Freeform: Shape 78"/>
            <p:cNvSpPr/>
            <p:nvPr/>
          </p:nvSpPr>
          <p:spPr>
            <a:xfrm rot="21214748" flipV="1">
              <a:off x="4003884" y="4352464"/>
              <a:ext cx="962026" cy="257175"/>
            </a:xfrm>
            <a:custGeom>
              <a:avLst/>
              <a:gdLst>
                <a:gd name="csX0" fmla="*/ 828675 w 828675"/>
                <a:gd name="csY0" fmla="*/ 0 h 257175"/>
                <a:gd name="csX1" fmla="*/ 523875 w 828675"/>
                <a:gd name="csY1" fmla="*/ 76200 h 257175"/>
                <a:gd name="csX2" fmla="*/ 190500 w 828675"/>
                <a:gd name="csY2" fmla="*/ 180975 h 257175"/>
                <a:gd name="csX3" fmla="*/ 0 w 828675"/>
                <a:gd name="csY3" fmla="*/ 257175 h 257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8675" h="257175">
                  <a:moveTo>
                    <a:pt x="828675" y="0"/>
                  </a:moveTo>
                  <a:cubicBezTo>
                    <a:pt x="729456" y="23018"/>
                    <a:pt x="630238" y="46037"/>
                    <a:pt x="523875" y="76200"/>
                  </a:cubicBezTo>
                  <a:cubicBezTo>
                    <a:pt x="417512" y="106363"/>
                    <a:pt x="277812" y="150813"/>
                    <a:pt x="190500" y="180975"/>
                  </a:cubicBezTo>
                  <a:cubicBezTo>
                    <a:pt x="103188" y="211137"/>
                    <a:pt x="51594" y="234156"/>
                    <a:pt x="0" y="257175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cxnSp>
          <p:nvCxnSpPr>
            <p:cNvPr id="36" name="Straight Connector 79"/>
            <p:cNvCxnSpPr/>
            <p:nvPr/>
          </p:nvCxnSpPr>
          <p:spPr>
            <a:xfrm rot="21154748" flipH="1" flipV="1">
              <a:off x="2218356" y="3996514"/>
              <a:ext cx="1690475" cy="519545"/>
            </a:xfrm>
            <a:prstGeom prst="line">
              <a:avLst/>
            </a:prstGeom>
            <a:ln>
              <a:solidFill>
                <a:srgbClr val="7030A0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84"/>
            <p:cNvCxnSpPr/>
            <p:nvPr/>
          </p:nvCxnSpPr>
          <p:spPr>
            <a:xfrm>
              <a:off x="3960856" y="4027689"/>
              <a:ext cx="938639" cy="3261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Freeform: Shape 85"/>
            <p:cNvSpPr/>
            <p:nvPr/>
          </p:nvSpPr>
          <p:spPr>
            <a:xfrm rot="553649" flipV="1">
              <a:off x="4964862" y="4610333"/>
              <a:ext cx="3127791" cy="111625"/>
            </a:xfrm>
            <a:custGeom>
              <a:avLst/>
              <a:gdLst>
                <a:gd name="csX0" fmla="*/ 0 w 3127791"/>
                <a:gd name="csY0" fmla="*/ 328194 h 352743"/>
                <a:gd name="csX1" fmla="*/ 219075 w 3127791"/>
                <a:gd name="csY1" fmla="*/ 251994 h 352743"/>
                <a:gd name="csX2" fmla="*/ 742950 w 3127791"/>
                <a:gd name="csY2" fmla="*/ 109119 h 352743"/>
                <a:gd name="csX3" fmla="*/ 1009650 w 3127791"/>
                <a:gd name="csY3" fmla="*/ 51969 h 352743"/>
                <a:gd name="csX4" fmla="*/ 1314450 w 3127791"/>
                <a:gd name="csY4" fmla="*/ 4344 h 352743"/>
                <a:gd name="csX5" fmla="*/ 1476375 w 3127791"/>
                <a:gd name="csY5" fmla="*/ 4344 h 352743"/>
                <a:gd name="csX6" fmla="*/ 1809750 w 3127791"/>
                <a:gd name="csY6" fmla="*/ 23394 h 352743"/>
                <a:gd name="csX7" fmla="*/ 2324100 w 3127791"/>
                <a:gd name="csY7" fmla="*/ 137694 h 352743"/>
                <a:gd name="csX8" fmla="*/ 2447925 w 3127791"/>
                <a:gd name="csY8" fmla="*/ 166269 h 352743"/>
                <a:gd name="csX9" fmla="*/ 2905125 w 3127791"/>
                <a:gd name="csY9" fmla="*/ 290094 h 352743"/>
                <a:gd name="csX10" fmla="*/ 3105150 w 3127791"/>
                <a:gd name="csY10" fmla="*/ 347244 h 352743"/>
                <a:gd name="csX11" fmla="*/ 3114675 w 3127791"/>
                <a:gd name="csY11" fmla="*/ 347244 h 352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127791" h="352743">
                  <a:moveTo>
                    <a:pt x="0" y="328194"/>
                  </a:moveTo>
                  <a:cubicBezTo>
                    <a:pt x="47625" y="308350"/>
                    <a:pt x="95250" y="288506"/>
                    <a:pt x="219075" y="251994"/>
                  </a:cubicBezTo>
                  <a:cubicBezTo>
                    <a:pt x="342900" y="215481"/>
                    <a:pt x="611188" y="142456"/>
                    <a:pt x="742950" y="109119"/>
                  </a:cubicBezTo>
                  <a:cubicBezTo>
                    <a:pt x="874712" y="75782"/>
                    <a:pt x="914400" y="69431"/>
                    <a:pt x="1009650" y="51969"/>
                  </a:cubicBezTo>
                  <a:cubicBezTo>
                    <a:pt x="1104900" y="34507"/>
                    <a:pt x="1236663" y="12281"/>
                    <a:pt x="1314450" y="4344"/>
                  </a:cubicBezTo>
                  <a:cubicBezTo>
                    <a:pt x="1392238" y="-3594"/>
                    <a:pt x="1393825" y="1169"/>
                    <a:pt x="1476375" y="4344"/>
                  </a:cubicBezTo>
                  <a:cubicBezTo>
                    <a:pt x="1558925" y="7519"/>
                    <a:pt x="1668463" y="1169"/>
                    <a:pt x="1809750" y="23394"/>
                  </a:cubicBezTo>
                  <a:cubicBezTo>
                    <a:pt x="1951038" y="45619"/>
                    <a:pt x="2324100" y="137694"/>
                    <a:pt x="2324100" y="137694"/>
                  </a:cubicBezTo>
                  <a:lnTo>
                    <a:pt x="2447925" y="166269"/>
                  </a:lnTo>
                  <a:lnTo>
                    <a:pt x="2905125" y="290094"/>
                  </a:lnTo>
                  <a:cubicBezTo>
                    <a:pt x="3014662" y="320256"/>
                    <a:pt x="3105150" y="347244"/>
                    <a:pt x="3105150" y="347244"/>
                  </a:cubicBezTo>
                  <a:cubicBezTo>
                    <a:pt x="3140075" y="356769"/>
                    <a:pt x="3127375" y="352006"/>
                    <a:pt x="3114675" y="347244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40" name="Freeform: Shape 88"/>
            <p:cNvSpPr/>
            <p:nvPr/>
          </p:nvSpPr>
          <p:spPr>
            <a:xfrm rot="1309770" flipV="1">
              <a:off x="8310229" y="4072774"/>
              <a:ext cx="3221182" cy="1454804"/>
            </a:xfrm>
            <a:custGeom>
              <a:avLst/>
              <a:gdLst>
                <a:gd name="csX0" fmla="*/ 0 w 3221182"/>
                <a:gd name="csY0" fmla="*/ 0 h 1485900"/>
                <a:gd name="csX1" fmla="*/ 550718 w 3221182"/>
                <a:gd name="csY1" fmla="*/ 176646 h 1485900"/>
                <a:gd name="csX2" fmla="*/ 1007918 w 3221182"/>
                <a:gd name="csY2" fmla="*/ 332510 h 1485900"/>
                <a:gd name="csX3" fmla="*/ 1465118 w 3221182"/>
                <a:gd name="csY3" fmla="*/ 550719 h 1485900"/>
                <a:gd name="csX4" fmla="*/ 1735282 w 3221182"/>
                <a:gd name="csY4" fmla="*/ 685800 h 1485900"/>
                <a:gd name="csX5" fmla="*/ 2286000 w 3221182"/>
                <a:gd name="csY5" fmla="*/ 955964 h 1485900"/>
                <a:gd name="csX6" fmla="*/ 2919846 w 3221182"/>
                <a:gd name="csY6" fmla="*/ 1319646 h 1485900"/>
                <a:gd name="csX7" fmla="*/ 3221182 w 3221182"/>
                <a:gd name="csY7" fmla="*/ 1485900 h 1485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221182" h="1485900">
                  <a:moveTo>
                    <a:pt x="0" y="0"/>
                  </a:moveTo>
                  <a:lnTo>
                    <a:pt x="550718" y="176646"/>
                  </a:lnTo>
                  <a:cubicBezTo>
                    <a:pt x="718704" y="232064"/>
                    <a:pt x="855518" y="270165"/>
                    <a:pt x="1007918" y="332510"/>
                  </a:cubicBezTo>
                  <a:cubicBezTo>
                    <a:pt x="1160318" y="394855"/>
                    <a:pt x="1343891" y="491837"/>
                    <a:pt x="1465118" y="550719"/>
                  </a:cubicBezTo>
                  <a:cubicBezTo>
                    <a:pt x="1586345" y="609601"/>
                    <a:pt x="1735282" y="685800"/>
                    <a:pt x="1735282" y="685800"/>
                  </a:cubicBezTo>
                  <a:cubicBezTo>
                    <a:pt x="1872096" y="753341"/>
                    <a:pt x="2088573" y="850323"/>
                    <a:pt x="2286000" y="955964"/>
                  </a:cubicBezTo>
                  <a:cubicBezTo>
                    <a:pt x="2483427" y="1061605"/>
                    <a:pt x="2763982" y="1231323"/>
                    <a:pt x="2919846" y="1319646"/>
                  </a:cubicBezTo>
                  <a:cubicBezTo>
                    <a:pt x="3075710" y="1407969"/>
                    <a:pt x="3148446" y="1446934"/>
                    <a:pt x="3221182" y="148590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cxnSp>
          <p:nvCxnSpPr>
            <p:cNvPr id="42" name="Straight Connector 95"/>
            <p:cNvCxnSpPr/>
            <p:nvPr/>
          </p:nvCxnSpPr>
          <p:spPr>
            <a:xfrm flipV="1">
              <a:off x="3907740" y="2082884"/>
              <a:ext cx="1039112" cy="4026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Freeform: Shape 101"/>
            <p:cNvSpPr/>
            <p:nvPr/>
          </p:nvSpPr>
          <p:spPr>
            <a:xfrm>
              <a:off x="8187870" y="897945"/>
              <a:ext cx="3127664" cy="1028700"/>
            </a:xfrm>
            <a:custGeom>
              <a:avLst/>
              <a:gdLst>
                <a:gd name="csX0" fmla="*/ 0 w 3127664"/>
                <a:gd name="csY0" fmla="*/ 1028700 h 1028700"/>
                <a:gd name="csX1" fmla="*/ 509155 w 3127664"/>
                <a:gd name="csY1" fmla="*/ 904009 h 1028700"/>
                <a:gd name="csX2" fmla="*/ 1246909 w 3127664"/>
                <a:gd name="csY2" fmla="*/ 654627 h 1028700"/>
                <a:gd name="csX3" fmla="*/ 3127664 w 3127664"/>
                <a:gd name="csY3" fmla="*/ 0 h 1028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127664" h="1028700">
                  <a:moveTo>
                    <a:pt x="0" y="1028700"/>
                  </a:moveTo>
                  <a:cubicBezTo>
                    <a:pt x="150668" y="997527"/>
                    <a:pt x="301337" y="966354"/>
                    <a:pt x="509155" y="904009"/>
                  </a:cubicBezTo>
                  <a:cubicBezTo>
                    <a:pt x="716973" y="841664"/>
                    <a:pt x="1246909" y="654627"/>
                    <a:pt x="1246909" y="654627"/>
                  </a:cubicBezTo>
                  <a:lnTo>
                    <a:pt x="3127664" y="0"/>
                  </a:ln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cxnSp>
          <p:nvCxnSpPr>
            <p:cNvPr id="44" name="Straight Connector 103"/>
            <p:cNvCxnSpPr/>
            <p:nvPr/>
          </p:nvCxnSpPr>
          <p:spPr>
            <a:xfrm flipH="1">
              <a:off x="904942" y="2953313"/>
              <a:ext cx="872454" cy="64969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"/>
            <p:cNvCxnSpPr/>
            <p:nvPr/>
          </p:nvCxnSpPr>
          <p:spPr>
            <a:xfrm flipH="1">
              <a:off x="902449" y="3608704"/>
              <a:ext cx="1344104" cy="1851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Freeform: Shape 47"/>
            <p:cNvSpPr/>
            <p:nvPr/>
          </p:nvSpPr>
          <p:spPr>
            <a:xfrm>
              <a:off x="2358189" y="3411622"/>
              <a:ext cx="5929163" cy="592487"/>
            </a:xfrm>
            <a:custGeom>
              <a:avLst/>
              <a:gdLst>
                <a:gd name="csX0" fmla="*/ 0 w 5929163"/>
                <a:gd name="csY0" fmla="*/ 188226 h 592487"/>
                <a:gd name="csX1" fmla="*/ 683394 w 5929163"/>
                <a:gd name="csY1" fmla="*/ 130475 h 592487"/>
                <a:gd name="csX2" fmla="*/ 952902 w 5929163"/>
                <a:gd name="csY2" fmla="*/ 111224 h 592487"/>
                <a:gd name="csX3" fmla="*/ 2512194 w 5929163"/>
                <a:gd name="csY3" fmla="*/ 5346 h 592487"/>
                <a:gd name="csX4" fmla="*/ 3436219 w 5929163"/>
                <a:gd name="csY4" fmla="*/ 24597 h 592487"/>
                <a:gd name="csX5" fmla="*/ 4138864 w 5929163"/>
                <a:gd name="csY5" fmla="*/ 101599 h 592487"/>
                <a:gd name="csX6" fmla="*/ 5014763 w 5929163"/>
                <a:gd name="csY6" fmla="*/ 313355 h 592487"/>
                <a:gd name="csX7" fmla="*/ 5496026 w 5929163"/>
                <a:gd name="csY7" fmla="*/ 467359 h 592487"/>
                <a:gd name="csX8" fmla="*/ 5929163 w 5929163"/>
                <a:gd name="csY8" fmla="*/ 592487 h 592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929163" h="592487">
                  <a:moveTo>
                    <a:pt x="0" y="188226"/>
                  </a:moveTo>
                  <a:lnTo>
                    <a:pt x="683394" y="130475"/>
                  </a:lnTo>
                  <a:lnTo>
                    <a:pt x="952902" y="111224"/>
                  </a:lnTo>
                  <a:cubicBezTo>
                    <a:pt x="1257702" y="90369"/>
                    <a:pt x="2098308" y="19784"/>
                    <a:pt x="2512194" y="5346"/>
                  </a:cubicBezTo>
                  <a:cubicBezTo>
                    <a:pt x="2926080" y="-9092"/>
                    <a:pt x="3165107" y="8555"/>
                    <a:pt x="3436219" y="24597"/>
                  </a:cubicBezTo>
                  <a:cubicBezTo>
                    <a:pt x="3707331" y="40639"/>
                    <a:pt x="3875773" y="53473"/>
                    <a:pt x="4138864" y="101599"/>
                  </a:cubicBezTo>
                  <a:cubicBezTo>
                    <a:pt x="4401955" y="149725"/>
                    <a:pt x="4788569" y="252395"/>
                    <a:pt x="5014763" y="313355"/>
                  </a:cubicBezTo>
                  <a:cubicBezTo>
                    <a:pt x="5240957" y="374315"/>
                    <a:pt x="5496026" y="467359"/>
                    <a:pt x="5496026" y="467359"/>
                  </a:cubicBezTo>
                  <a:cubicBezTo>
                    <a:pt x="5648426" y="513881"/>
                    <a:pt x="5788794" y="553184"/>
                    <a:pt x="5929163" y="592487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49" name="Oval 51"/>
            <p:cNvSpPr/>
            <p:nvPr/>
          </p:nvSpPr>
          <p:spPr>
            <a:xfrm>
              <a:off x="4048923" y="3474719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50" name="Oval 52"/>
            <p:cNvSpPr/>
            <p:nvPr/>
          </p:nvSpPr>
          <p:spPr>
            <a:xfrm>
              <a:off x="4220573" y="3347986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51" name="Oval 53"/>
            <p:cNvSpPr/>
            <p:nvPr/>
          </p:nvSpPr>
          <p:spPr>
            <a:xfrm>
              <a:off x="4632856" y="3442635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52" name="Oval 54"/>
            <p:cNvSpPr/>
            <p:nvPr/>
          </p:nvSpPr>
          <p:spPr>
            <a:xfrm>
              <a:off x="4794881" y="3325527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cxnSp>
          <p:nvCxnSpPr>
            <p:cNvPr id="53" name="Straight Connector 62"/>
            <p:cNvCxnSpPr/>
            <p:nvPr/>
          </p:nvCxnSpPr>
          <p:spPr>
            <a:xfrm>
              <a:off x="8333255" y="4009718"/>
              <a:ext cx="3407573" cy="10937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70"/>
            <p:cNvSpPr txBox="1"/>
            <p:nvPr/>
          </p:nvSpPr>
          <p:spPr>
            <a:xfrm rot="439309">
              <a:off x="5359196" y="2721801"/>
              <a:ext cx="2500228" cy="6478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solidFill>
                    <a:srgbClr val="0000FF"/>
                  </a:solidFill>
                  <a:sym typeface="Wingdings" panose="05000000000000000000" pitchFamily="2" charset="2"/>
                </a:rPr>
                <a:t>Long (UP not </a:t>
              </a:r>
              <a:r>
                <a:rPr lang="en-US" sz="1000" b="1" dirty="0" err="1">
                  <a:solidFill>
                    <a:srgbClr val="0000FF"/>
                  </a:solidFill>
                  <a:sym typeface="Wingdings" panose="05000000000000000000" pitchFamily="2" charset="2"/>
                </a:rPr>
                <a:t>req’d</a:t>
              </a:r>
              <a:r>
                <a:rPr lang="en-US" sz="1000" b="1" dirty="0">
                  <a:solidFill>
                    <a:srgbClr val="0000FF"/>
                  </a:solidFill>
                  <a:sym typeface="Wingdings" panose="05000000000000000000" pitchFamily="2" charset="2"/>
                </a:rPr>
                <a:t>):  Seeding</a:t>
              </a:r>
              <a:br>
                <a:rPr lang="en-US" sz="1050" b="1" dirty="0">
                  <a:solidFill>
                    <a:srgbClr val="0000FF"/>
                  </a:solidFill>
                </a:rPr>
              </a:br>
              <a:r>
                <a:rPr lang="en-US" sz="1000" dirty="0">
                  <a:solidFill>
                    <a:srgbClr val="0000FF"/>
                  </a:solidFill>
                </a:rPr>
                <a:t>(L4)  </a:t>
              </a:r>
              <a:r>
                <a:rPr lang="en-US" sz="1000" dirty="0"/>
                <a:t>(TV1) + (MT1)+</a:t>
              </a:r>
              <a:r>
                <a:rPr lang="en-US" sz="1000" dirty="0">
                  <a:solidFill>
                    <a:srgbClr val="FF0000"/>
                  </a:solidFill>
                </a:rPr>
                <a:t>[add UP hits]</a:t>
              </a:r>
              <a:endParaRPr lang="en-US" sz="1000" dirty="0">
                <a:solidFill>
                  <a:srgbClr val="FF0000"/>
                </a:solidFill>
              </a:endParaRPr>
            </a:p>
            <a:p>
              <a:r>
                <a:rPr lang="en-US" sz="1000" dirty="0">
                  <a:solidFill>
                    <a:srgbClr val="0000FF"/>
                  </a:solidFill>
                </a:rPr>
                <a:t>(L5)  </a:t>
              </a:r>
              <a:r>
                <a:rPr lang="en-US" sz="1000" dirty="0"/>
                <a:t>(TV1) + (MT1)+</a:t>
              </a:r>
              <a:r>
                <a:rPr lang="en-US" sz="1000" dirty="0">
                  <a:solidFill>
                    <a:srgbClr val="FF0000"/>
                  </a:solidFill>
                </a:rPr>
                <a:t>[add UP1]</a:t>
              </a:r>
              <a:endParaRPr lang="en-US" sz="1000" dirty="0">
                <a:solidFill>
                  <a:srgbClr val="FF0000"/>
                </a:solidFill>
              </a:endParaRPr>
            </a:p>
          </p:txBody>
        </p:sp>
        <p:cxnSp>
          <p:nvCxnSpPr>
            <p:cNvPr id="56" name="Straight Connector 74"/>
            <p:cNvCxnSpPr/>
            <p:nvPr/>
          </p:nvCxnSpPr>
          <p:spPr>
            <a:xfrm flipV="1">
              <a:off x="3925561" y="3407342"/>
              <a:ext cx="1152519" cy="6715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82"/>
            <p:cNvSpPr txBox="1"/>
            <p:nvPr/>
          </p:nvSpPr>
          <p:spPr>
            <a:xfrm rot="549747">
              <a:off x="5396619" y="4681621"/>
              <a:ext cx="2205376" cy="8382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9933"/>
                  </a:solidFill>
                  <a:sym typeface="Wingdings" panose="05000000000000000000" pitchFamily="2" charset="2"/>
                </a:rPr>
                <a:t>Downstream</a:t>
              </a:r>
              <a:endParaRPr lang="en-US" sz="1400" b="1" dirty="0">
                <a:solidFill>
                  <a:srgbClr val="FF9933"/>
                </a:solidFill>
                <a:sym typeface="Wingdings" panose="05000000000000000000" pitchFamily="2" charset="2"/>
              </a:endParaRPr>
            </a:p>
            <a:p>
              <a:r>
                <a:rPr lang="en-US" sz="1200" dirty="0">
                  <a:solidFill>
                    <a:schemeClr val="accent2">
                      <a:lumMod val="75000"/>
                    </a:schemeClr>
                  </a:solidFill>
                  <a:sym typeface="Wingdings" panose="05000000000000000000" pitchFamily="2" charset="2"/>
                </a:rPr>
                <a:t>(D1)  </a:t>
              </a:r>
              <a:r>
                <a:rPr lang="en-US" sz="1200" dirty="0">
                  <a:solidFill>
                    <a:schemeClr val="accent2">
                      <a:lumMod val="75000"/>
                    </a:schemeClr>
                  </a:solidFill>
                </a:rPr>
                <a:t>MT1 + UP1</a:t>
              </a:r>
              <a:endParaRPr lang="en-US" sz="12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59" name="TextBox 83"/>
            <p:cNvSpPr txBox="1"/>
            <p:nvPr/>
          </p:nvSpPr>
          <p:spPr>
            <a:xfrm>
              <a:off x="5541694" y="1214032"/>
              <a:ext cx="2240524" cy="903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rgbClr val="0000FF"/>
                  </a:solidFill>
                  <a:sym typeface="Wingdings" panose="05000000000000000000" pitchFamily="2" charset="2"/>
                </a:rPr>
                <a:t>Long (UP required)</a:t>
              </a:r>
              <a:br>
                <a:rPr lang="en-US" sz="1100" b="1" dirty="0">
                  <a:solidFill>
                    <a:srgbClr val="0000FF"/>
                  </a:solidFill>
                </a:rPr>
              </a:br>
              <a:r>
                <a:rPr lang="en-US" sz="1050" dirty="0">
                  <a:solidFill>
                    <a:schemeClr val="accent2">
                      <a:lumMod val="75000"/>
                    </a:schemeClr>
                  </a:solidFill>
                </a:rPr>
                <a:t>(L1)  Combine: (U1) + (D1)</a:t>
              </a:r>
              <a:endParaRPr lang="en-US" sz="1050" dirty="0">
                <a:solidFill>
                  <a:schemeClr val="accent2">
                    <a:lumMod val="75000"/>
                  </a:schemeClr>
                </a:solidFill>
              </a:endParaRPr>
            </a:p>
            <a:p>
              <a:r>
                <a:rPr lang="en-US" sz="1050" dirty="0">
                  <a:solidFill>
                    <a:schemeClr val="accent2">
                      <a:lumMod val="75000"/>
                    </a:schemeClr>
                  </a:solidFill>
                </a:rPr>
                <a:t>(L2)  </a:t>
              </a:r>
              <a:r>
                <a:rPr lang="en-US" altLang="zh-CN" sz="1050" dirty="0">
                  <a:solidFill>
                    <a:schemeClr val="accent2">
                      <a:lumMod val="75000"/>
                    </a:schemeClr>
                  </a:solidFill>
                </a:rPr>
                <a:t>Backward</a:t>
              </a:r>
              <a:r>
                <a:rPr lang="en-US" sz="1050" dirty="0">
                  <a:solidFill>
                    <a:schemeClr val="accent2">
                      <a:lumMod val="75000"/>
                    </a:schemeClr>
                  </a:solidFill>
                </a:rPr>
                <a:t>: (D1) + (TV1)</a:t>
              </a:r>
              <a:endParaRPr lang="en-US" sz="1050" dirty="0">
                <a:solidFill>
                  <a:schemeClr val="accent2">
                    <a:lumMod val="75000"/>
                  </a:schemeClr>
                </a:solidFill>
              </a:endParaRPr>
            </a:p>
            <a:p>
              <a:r>
                <a:rPr lang="en-US" sz="1050" dirty="0">
                  <a:solidFill>
                    <a:srgbClr val="00B0F0"/>
                  </a:solidFill>
                </a:rPr>
                <a:t>(L3)  </a:t>
              </a:r>
              <a:r>
                <a:rPr lang="en-US" altLang="zh-CN" sz="1050" dirty="0">
                  <a:solidFill>
                    <a:srgbClr val="00B0F0"/>
                  </a:solidFill>
                </a:rPr>
                <a:t>Forward:(</a:t>
              </a:r>
              <a:r>
                <a:rPr lang="en-US" sz="1050" dirty="0">
                  <a:solidFill>
                    <a:srgbClr val="00B0F0"/>
                  </a:solidFill>
                </a:rPr>
                <a:t>U2) + MT Hits</a:t>
              </a:r>
              <a:endParaRPr lang="en-US" sz="1050" dirty="0">
                <a:solidFill>
                  <a:srgbClr val="00B0F0"/>
                </a:solidFill>
              </a:endParaRPr>
            </a:p>
          </p:txBody>
        </p:sp>
        <p:sp>
          <p:nvSpPr>
            <p:cNvPr id="60" name="TextBox 86"/>
            <p:cNvSpPr txBox="1"/>
            <p:nvPr/>
          </p:nvSpPr>
          <p:spPr>
            <a:xfrm rot="576739">
              <a:off x="2048966" y="4281281"/>
              <a:ext cx="2188587" cy="1054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9933"/>
                  </a:solidFill>
                </a:rPr>
                <a:t>Upstream</a:t>
              </a:r>
              <a:endParaRPr lang="en-US" sz="1400" b="1" dirty="0">
                <a:solidFill>
                  <a:srgbClr val="FF9933"/>
                </a:solidFill>
              </a:endParaRPr>
            </a:p>
            <a:p>
              <a:r>
                <a:rPr lang="en-US" sz="1100" dirty="0">
                  <a:solidFill>
                    <a:srgbClr val="0000FF"/>
                  </a:solidFill>
                </a:rPr>
                <a:t> </a:t>
              </a:r>
              <a:r>
                <a:rPr lang="en-US" sz="1100" dirty="0">
                  <a:solidFill>
                    <a:schemeClr val="accent2">
                      <a:lumMod val="75000"/>
                    </a:schemeClr>
                  </a:solidFill>
                </a:rPr>
                <a:t>(U1) TV1 + UP1 </a:t>
              </a:r>
              <a:endParaRPr lang="en-US" sz="1100" dirty="0">
                <a:solidFill>
                  <a:schemeClr val="accent2">
                    <a:lumMod val="75000"/>
                  </a:schemeClr>
                </a:solidFill>
              </a:endParaRPr>
            </a:p>
            <a:p>
              <a:r>
                <a:rPr lang="en-US" sz="1100" dirty="0">
                  <a:solidFill>
                    <a:srgbClr val="00B0F0"/>
                  </a:solidFill>
                </a:rPr>
                <a:t>(U2) TV1 + UP hits </a:t>
              </a:r>
              <a:endParaRPr lang="en-US" sz="1100" dirty="0">
                <a:solidFill>
                  <a:srgbClr val="00B0F0"/>
                </a:solidFill>
              </a:endParaRPr>
            </a:p>
          </p:txBody>
        </p:sp>
      </p:grpSp>
      <p:cxnSp>
        <p:nvCxnSpPr>
          <p:cNvPr id="104" name="直接连接符 103"/>
          <p:cNvCxnSpPr/>
          <p:nvPr/>
        </p:nvCxnSpPr>
        <p:spPr>
          <a:xfrm>
            <a:off x="8200427" y="2487349"/>
            <a:ext cx="0" cy="183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>
            <a:off x="8439847" y="2487349"/>
            <a:ext cx="0" cy="183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>
            <a:off x="9211953" y="2498792"/>
            <a:ext cx="0" cy="183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9451373" y="2498792"/>
            <a:ext cx="0" cy="183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10411729" y="2514200"/>
            <a:ext cx="0" cy="183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>
          <a:xfrm>
            <a:off x="10651149" y="2514200"/>
            <a:ext cx="0" cy="183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: 圆角 112"/>
          <p:cNvSpPr/>
          <p:nvPr/>
        </p:nvSpPr>
        <p:spPr>
          <a:xfrm>
            <a:off x="10965547" y="3276498"/>
            <a:ext cx="926525" cy="32227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矩形: 圆角 114"/>
          <p:cNvSpPr/>
          <p:nvPr/>
        </p:nvSpPr>
        <p:spPr>
          <a:xfrm>
            <a:off x="10965547" y="5301844"/>
            <a:ext cx="926525" cy="32227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6040256" y="6244441"/>
            <a:ext cx="1261089" cy="32227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矩形: 圆角 118"/>
          <p:cNvSpPr/>
          <p:nvPr/>
        </p:nvSpPr>
        <p:spPr>
          <a:xfrm>
            <a:off x="4608019" y="5003730"/>
            <a:ext cx="595322" cy="32227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矩形: 圆角 120"/>
          <p:cNvSpPr/>
          <p:nvPr/>
        </p:nvSpPr>
        <p:spPr>
          <a:xfrm>
            <a:off x="1740432" y="4695133"/>
            <a:ext cx="595322" cy="32227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TV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E60BB-3A46-4D7B-AFA4-FB6B303D35FB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266699" y="103247"/>
            <a:ext cx="8032173" cy="59372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0066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Sub-Detector</a:t>
            </a:r>
            <a:endParaRPr lang="zh-CN" altLang="en-US" sz="2800" dirty="0">
              <a:solidFill>
                <a:srgbClr val="0066FF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29901" y="407093"/>
            <a:ext cx="9767564" cy="5862764"/>
            <a:chOff x="319300" y="-52778"/>
            <a:chExt cx="11421528" cy="6855520"/>
          </a:xfrm>
        </p:grpSpPr>
        <p:grpSp>
          <p:nvGrpSpPr>
            <p:cNvPr id="6" name="Group 29"/>
            <p:cNvGrpSpPr/>
            <p:nvPr/>
          </p:nvGrpSpPr>
          <p:grpSpPr>
            <a:xfrm>
              <a:off x="319300" y="3019232"/>
              <a:ext cx="1800225" cy="1507075"/>
              <a:chOff x="314325" y="3257550"/>
              <a:chExt cx="1800225" cy="590550"/>
            </a:xfrm>
          </p:grpSpPr>
          <p:cxnSp>
            <p:nvCxnSpPr>
              <p:cNvPr id="78" name="Straight Connector 5"/>
              <p:cNvCxnSpPr/>
              <p:nvPr/>
            </p:nvCxnSpPr>
            <p:spPr>
              <a:xfrm>
                <a:off x="31432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6"/>
              <p:cNvCxnSpPr/>
              <p:nvPr/>
            </p:nvCxnSpPr>
            <p:spPr>
              <a:xfrm>
                <a:off x="39052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7"/>
              <p:cNvCxnSpPr/>
              <p:nvPr/>
            </p:nvCxnSpPr>
            <p:spPr>
              <a:xfrm>
                <a:off x="46672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"/>
              <p:cNvCxnSpPr/>
              <p:nvPr/>
            </p:nvCxnSpPr>
            <p:spPr>
              <a:xfrm>
                <a:off x="54292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9"/>
              <p:cNvCxnSpPr/>
              <p:nvPr/>
            </p:nvCxnSpPr>
            <p:spPr>
              <a:xfrm>
                <a:off x="6286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10"/>
              <p:cNvCxnSpPr/>
              <p:nvPr/>
            </p:nvCxnSpPr>
            <p:spPr>
              <a:xfrm>
                <a:off x="7048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11"/>
              <p:cNvCxnSpPr/>
              <p:nvPr/>
            </p:nvCxnSpPr>
            <p:spPr>
              <a:xfrm>
                <a:off x="7810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12"/>
              <p:cNvCxnSpPr/>
              <p:nvPr/>
            </p:nvCxnSpPr>
            <p:spPr>
              <a:xfrm>
                <a:off x="8572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13"/>
              <p:cNvCxnSpPr/>
              <p:nvPr/>
            </p:nvCxnSpPr>
            <p:spPr>
              <a:xfrm>
                <a:off x="9334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14"/>
              <p:cNvCxnSpPr/>
              <p:nvPr/>
            </p:nvCxnSpPr>
            <p:spPr>
              <a:xfrm>
                <a:off x="10096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15"/>
              <p:cNvCxnSpPr/>
              <p:nvPr/>
            </p:nvCxnSpPr>
            <p:spPr>
              <a:xfrm>
                <a:off x="10858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16"/>
              <p:cNvCxnSpPr/>
              <p:nvPr/>
            </p:nvCxnSpPr>
            <p:spPr>
              <a:xfrm>
                <a:off x="11620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17"/>
              <p:cNvCxnSpPr/>
              <p:nvPr/>
            </p:nvCxnSpPr>
            <p:spPr>
              <a:xfrm>
                <a:off x="124777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18"/>
              <p:cNvCxnSpPr/>
              <p:nvPr/>
            </p:nvCxnSpPr>
            <p:spPr>
              <a:xfrm>
                <a:off x="132397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19"/>
              <p:cNvCxnSpPr/>
              <p:nvPr/>
            </p:nvCxnSpPr>
            <p:spPr>
              <a:xfrm>
                <a:off x="140017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20"/>
              <p:cNvCxnSpPr/>
              <p:nvPr/>
            </p:nvCxnSpPr>
            <p:spPr>
              <a:xfrm>
                <a:off x="147637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21"/>
              <p:cNvCxnSpPr/>
              <p:nvPr/>
            </p:nvCxnSpPr>
            <p:spPr>
              <a:xfrm>
                <a:off x="157162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22"/>
              <p:cNvCxnSpPr/>
              <p:nvPr/>
            </p:nvCxnSpPr>
            <p:spPr>
              <a:xfrm>
                <a:off x="164782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23"/>
              <p:cNvCxnSpPr/>
              <p:nvPr/>
            </p:nvCxnSpPr>
            <p:spPr>
              <a:xfrm>
                <a:off x="172402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24"/>
              <p:cNvCxnSpPr/>
              <p:nvPr/>
            </p:nvCxnSpPr>
            <p:spPr>
              <a:xfrm>
                <a:off x="1800225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25"/>
              <p:cNvCxnSpPr/>
              <p:nvPr/>
            </p:nvCxnSpPr>
            <p:spPr>
              <a:xfrm>
                <a:off x="18859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26"/>
              <p:cNvCxnSpPr/>
              <p:nvPr/>
            </p:nvCxnSpPr>
            <p:spPr>
              <a:xfrm>
                <a:off x="19621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27"/>
              <p:cNvCxnSpPr/>
              <p:nvPr/>
            </p:nvCxnSpPr>
            <p:spPr>
              <a:xfrm>
                <a:off x="20383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28"/>
              <p:cNvCxnSpPr/>
              <p:nvPr/>
            </p:nvCxnSpPr>
            <p:spPr>
              <a:xfrm>
                <a:off x="2114550" y="3257550"/>
                <a:ext cx="0" cy="5905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35"/>
            <p:cNvGrpSpPr/>
            <p:nvPr/>
          </p:nvGrpSpPr>
          <p:grpSpPr>
            <a:xfrm>
              <a:off x="4095750" y="1993062"/>
              <a:ext cx="742950" cy="3129656"/>
              <a:chOff x="4095750" y="2295525"/>
              <a:chExt cx="742950" cy="2447925"/>
            </a:xfrm>
          </p:grpSpPr>
          <p:cxnSp>
            <p:nvCxnSpPr>
              <p:cNvPr id="72" name="Straight Connector 31"/>
              <p:cNvCxnSpPr/>
              <p:nvPr/>
            </p:nvCxnSpPr>
            <p:spPr>
              <a:xfrm>
                <a:off x="4095750" y="2295525"/>
                <a:ext cx="0" cy="244792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32"/>
              <p:cNvCxnSpPr/>
              <p:nvPr/>
            </p:nvCxnSpPr>
            <p:spPr>
              <a:xfrm>
                <a:off x="4257675" y="2295525"/>
                <a:ext cx="0" cy="244792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33"/>
              <p:cNvCxnSpPr/>
              <p:nvPr/>
            </p:nvCxnSpPr>
            <p:spPr>
              <a:xfrm>
                <a:off x="4676775" y="2295525"/>
                <a:ext cx="0" cy="244792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34"/>
              <p:cNvCxnSpPr/>
              <p:nvPr/>
            </p:nvCxnSpPr>
            <p:spPr>
              <a:xfrm>
                <a:off x="4838700" y="2295525"/>
                <a:ext cx="0" cy="244792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44"/>
            <p:cNvGrpSpPr/>
            <p:nvPr/>
          </p:nvGrpSpPr>
          <p:grpSpPr>
            <a:xfrm>
              <a:off x="8372475" y="800100"/>
              <a:ext cx="2828925" cy="5597760"/>
              <a:chOff x="8372475" y="800100"/>
              <a:chExt cx="2828925" cy="5597760"/>
            </a:xfrm>
          </p:grpSpPr>
          <p:cxnSp>
            <p:nvCxnSpPr>
              <p:cNvPr id="61" name="Straight Connector 37"/>
              <p:cNvCxnSpPr/>
              <p:nvPr/>
            </p:nvCxnSpPr>
            <p:spPr>
              <a:xfrm>
                <a:off x="8372475" y="800100"/>
                <a:ext cx="0" cy="559776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39"/>
              <p:cNvCxnSpPr/>
              <p:nvPr/>
            </p:nvCxnSpPr>
            <p:spPr>
              <a:xfrm>
                <a:off x="8610600" y="800100"/>
                <a:ext cx="0" cy="559776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40"/>
              <p:cNvCxnSpPr/>
              <p:nvPr/>
            </p:nvCxnSpPr>
            <p:spPr>
              <a:xfrm>
                <a:off x="9553575" y="800100"/>
                <a:ext cx="0" cy="559776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41"/>
              <p:cNvCxnSpPr/>
              <p:nvPr/>
            </p:nvCxnSpPr>
            <p:spPr>
              <a:xfrm>
                <a:off x="9791700" y="800100"/>
                <a:ext cx="0" cy="559776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42"/>
              <p:cNvCxnSpPr/>
              <p:nvPr/>
            </p:nvCxnSpPr>
            <p:spPr>
              <a:xfrm>
                <a:off x="10963275" y="800100"/>
                <a:ext cx="0" cy="559776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43"/>
              <p:cNvCxnSpPr/>
              <p:nvPr/>
            </p:nvCxnSpPr>
            <p:spPr>
              <a:xfrm>
                <a:off x="11201400" y="800100"/>
                <a:ext cx="0" cy="559776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rapezoid 45"/>
            <p:cNvSpPr/>
            <p:nvPr/>
          </p:nvSpPr>
          <p:spPr>
            <a:xfrm rot="16200000">
              <a:off x="3120682" y="1827171"/>
              <a:ext cx="6855520" cy="3095623"/>
            </a:xfrm>
            <a:prstGeom prst="trapezoid">
              <a:avLst>
                <a:gd name="adj" fmla="val 3654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cxnSp>
          <p:nvCxnSpPr>
            <p:cNvPr id="10" name="Straight Connector 49"/>
            <p:cNvCxnSpPr/>
            <p:nvPr/>
          </p:nvCxnSpPr>
          <p:spPr>
            <a:xfrm flipV="1">
              <a:off x="894431" y="3322624"/>
              <a:ext cx="1283433" cy="4051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: Shape 56"/>
            <p:cNvSpPr/>
            <p:nvPr/>
          </p:nvSpPr>
          <p:spPr>
            <a:xfrm rot="60000">
              <a:off x="5057775" y="2197675"/>
              <a:ext cx="3127791" cy="291249"/>
            </a:xfrm>
            <a:custGeom>
              <a:avLst/>
              <a:gdLst>
                <a:gd name="csX0" fmla="*/ 0 w 3127791"/>
                <a:gd name="csY0" fmla="*/ 328194 h 352743"/>
                <a:gd name="csX1" fmla="*/ 219075 w 3127791"/>
                <a:gd name="csY1" fmla="*/ 251994 h 352743"/>
                <a:gd name="csX2" fmla="*/ 742950 w 3127791"/>
                <a:gd name="csY2" fmla="*/ 109119 h 352743"/>
                <a:gd name="csX3" fmla="*/ 1009650 w 3127791"/>
                <a:gd name="csY3" fmla="*/ 51969 h 352743"/>
                <a:gd name="csX4" fmla="*/ 1314450 w 3127791"/>
                <a:gd name="csY4" fmla="*/ 4344 h 352743"/>
                <a:gd name="csX5" fmla="*/ 1476375 w 3127791"/>
                <a:gd name="csY5" fmla="*/ 4344 h 352743"/>
                <a:gd name="csX6" fmla="*/ 1809750 w 3127791"/>
                <a:gd name="csY6" fmla="*/ 23394 h 352743"/>
                <a:gd name="csX7" fmla="*/ 2324100 w 3127791"/>
                <a:gd name="csY7" fmla="*/ 137694 h 352743"/>
                <a:gd name="csX8" fmla="*/ 2447925 w 3127791"/>
                <a:gd name="csY8" fmla="*/ 166269 h 352743"/>
                <a:gd name="csX9" fmla="*/ 2905125 w 3127791"/>
                <a:gd name="csY9" fmla="*/ 290094 h 352743"/>
                <a:gd name="csX10" fmla="*/ 3105150 w 3127791"/>
                <a:gd name="csY10" fmla="*/ 347244 h 352743"/>
                <a:gd name="csX11" fmla="*/ 3114675 w 3127791"/>
                <a:gd name="csY11" fmla="*/ 347244 h 352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127791" h="352743">
                  <a:moveTo>
                    <a:pt x="0" y="328194"/>
                  </a:moveTo>
                  <a:cubicBezTo>
                    <a:pt x="47625" y="308350"/>
                    <a:pt x="95250" y="288506"/>
                    <a:pt x="219075" y="251994"/>
                  </a:cubicBezTo>
                  <a:cubicBezTo>
                    <a:pt x="342900" y="215481"/>
                    <a:pt x="611188" y="142456"/>
                    <a:pt x="742950" y="109119"/>
                  </a:cubicBezTo>
                  <a:cubicBezTo>
                    <a:pt x="874712" y="75782"/>
                    <a:pt x="914400" y="69431"/>
                    <a:pt x="1009650" y="51969"/>
                  </a:cubicBezTo>
                  <a:cubicBezTo>
                    <a:pt x="1104900" y="34507"/>
                    <a:pt x="1236663" y="12281"/>
                    <a:pt x="1314450" y="4344"/>
                  </a:cubicBezTo>
                  <a:cubicBezTo>
                    <a:pt x="1392238" y="-3594"/>
                    <a:pt x="1393825" y="1169"/>
                    <a:pt x="1476375" y="4344"/>
                  </a:cubicBezTo>
                  <a:cubicBezTo>
                    <a:pt x="1558925" y="7519"/>
                    <a:pt x="1668463" y="1169"/>
                    <a:pt x="1809750" y="23394"/>
                  </a:cubicBezTo>
                  <a:cubicBezTo>
                    <a:pt x="1951038" y="45619"/>
                    <a:pt x="2324100" y="137694"/>
                    <a:pt x="2324100" y="137694"/>
                  </a:cubicBezTo>
                  <a:lnTo>
                    <a:pt x="2447925" y="166269"/>
                  </a:lnTo>
                  <a:lnTo>
                    <a:pt x="2905125" y="290094"/>
                  </a:lnTo>
                  <a:cubicBezTo>
                    <a:pt x="3014662" y="320256"/>
                    <a:pt x="3105150" y="347244"/>
                    <a:pt x="3105150" y="347244"/>
                  </a:cubicBezTo>
                  <a:cubicBezTo>
                    <a:pt x="3140075" y="356769"/>
                    <a:pt x="3127375" y="352006"/>
                    <a:pt x="3114675" y="347244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6" name="Freeform: Shape 60"/>
            <p:cNvSpPr/>
            <p:nvPr/>
          </p:nvSpPr>
          <p:spPr>
            <a:xfrm rot="21540000">
              <a:off x="4006994" y="2493906"/>
              <a:ext cx="962026" cy="257175"/>
            </a:xfrm>
            <a:custGeom>
              <a:avLst/>
              <a:gdLst>
                <a:gd name="csX0" fmla="*/ 828675 w 828675"/>
                <a:gd name="csY0" fmla="*/ 0 h 257175"/>
                <a:gd name="csX1" fmla="*/ 523875 w 828675"/>
                <a:gd name="csY1" fmla="*/ 76200 h 257175"/>
                <a:gd name="csX2" fmla="*/ 190500 w 828675"/>
                <a:gd name="csY2" fmla="*/ 180975 h 257175"/>
                <a:gd name="csX3" fmla="*/ 0 w 828675"/>
                <a:gd name="csY3" fmla="*/ 257175 h 257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8675" h="257175">
                  <a:moveTo>
                    <a:pt x="828675" y="0"/>
                  </a:moveTo>
                  <a:cubicBezTo>
                    <a:pt x="729456" y="23018"/>
                    <a:pt x="630238" y="46037"/>
                    <a:pt x="523875" y="76200"/>
                  </a:cubicBezTo>
                  <a:cubicBezTo>
                    <a:pt x="417512" y="106363"/>
                    <a:pt x="277812" y="150813"/>
                    <a:pt x="190500" y="180975"/>
                  </a:cubicBezTo>
                  <a:cubicBezTo>
                    <a:pt x="103188" y="211137"/>
                    <a:pt x="51594" y="234156"/>
                    <a:pt x="0" y="257175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cxnSp>
          <p:nvCxnSpPr>
            <p:cNvPr id="17" name="Straight Connector 63"/>
            <p:cNvCxnSpPr/>
            <p:nvPr/>
          </p:nvCxnSpPr>
          <p:spPr>
            <a:xfrm flipH="1">
              <a:off x="2262400" y="2769175"/>
              <a:ext cx="1690475" cy="519545"/>
            </a:xfrm>
            <a:prstGeom prst="line">
              <a:avLst/>
            </a:prstGeom>
            <a:ln>
              <a:solidFill>
                <a:srgbClr val="7030A0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: Shape 67"/>
            <p:cNvSpPr/>
            <p:nvPr/>
          </p:nvSpPr>
          <p:spPr>
            <a:xfrm>
              <a:off x="8312727" y="2545770"/>
              <a:ext cx="3221182" cy="1485900"/>
            </a:xfrm>
            <a:custGeom>
              <a:avLst/>
              <a:gdLst>
                <a:gd name="csX0" fmla="*/ 0 w 3221182"/>
                <a:gd name="csY0" fmla="*/ 0 h 1485900"/>
                <a:gd name="csX1" fmla="*/ 550718 w 3221182"/>
                <a:gd name="csY1" fmla="*/ 176646 h 1485900"/>
                <a:gd name="csX2" fmla="*/ 1007918 w 3221182"/>
                <a:gd name="csY2" fmla="*/ 332510 h 1485900"/>
                <a:gd name="csX3" fmla="*/ 1465118 w 3221182"/>
                <a:gd name="csY3" fmla="*/ 550719 h 1485900"/>
                <a:gd name="csX4" fmla="*/ 1735282 w 3221182"/>
                <a:gd name="csY4" fmla="*/ 685800 h 1485900"/>
                <a:gd name="csX5" fmla="*/ 2286000 w 3221182"/>
                <a:gd name="csY5" fmla="*/ 955964 h 1485900"/>
                <a:gd name="csX6" fmla="*/ 2919846 w 3221182"/>
                <a:gd name="csY6" fmla="*/ 1319646 h 1485900"/>
                <a:gd name="csX7" fmla="*/ 3221182 w 3221182"/>
                <a:gd name="csY7" fmla="*/ 1485900 h 1485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221182" h="1485900">
                  <a:moveTo>
                    <a:pt x="0" y="0"/>
                  </a:moveTo>
                  <a:lnTo>
                    <a:pt x="550718" y="176646"/>
                  </a:lnTo>
                  <a:cubicBezTo>
                    <a:pt x="718704" y="232064"/>
                    <a:pt x="855518" y="270165"/>
                    <a:pt x="1007918" y="332510"/>
                  </a:cubicBezTo>
                  <a:cubicBezTo>
                    <a:pt x="1160318" y="394855"/>
                    <a:pt x="1343891" y="491837"/>
                    <a:pt x="1465118" y="550719"/>
                  </a:cubicBezTo>
                  <a:cubicBezTo>
                    <a:pt x="1586345" y="609601"/>
                    <a:pt x="1735282" y="685800"/>
                    <a:pt x="1735282" y="685800"/>
                  </a:cubicBezTo>
                  <a:cubicBezTo>
                    <a:pt x="1872096" y="753341"/>
                    <a:pt x="2088573" y="850323"/>
                    <a:pt x="2286000" y="955964"/>
                  </a:cubicBezTo>
                  <a:cubicBezTo>
                    <a:pt x="2483427" y="1061605"/>
                    <a:pt x="2763982" y="1231323"/>
                    <a:pt x="2919846" y="1319646"/>
                  </a:cubicBezTo>
                  <a:cubicBezTo>
                    <a:pt x="3075710" y="1407969"/>
                    <a:pt x="3148446" y="1446934"/>
                    <a:pt x="3221182" y="148590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cxnSp>
          <p:nvCxnSpPr>
            <p:cNvPr id="33" name="Straight Connector 76"/>
            <p:cNvCxnSpPr/>
            <p:nvPr/>
          </p:nvCxnSpPr>
          <p:spPr>
            <a:xfrm rot="21154748">
              <a:off x="892266" y="3782977"/>
              <a:ext cx="1191815" cy="38073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Freeform: Shape 78"/>
            <p:cNvSpPr/>
            <p:nvPr/>
          </p:nvSpPr>
          <p:spPr>
            <a:xfrm rot="21214748" flipV="1">
              <a:off x="4003884" y="4352464"/>
              <a:ext cx="962026" cy="257175"/>
            </a:xfrm>
            <a:custGeom>
              <a:avLst/>
              <a:gdLst>
                <a:gd name="csX0" fmla="*/ 828675 w 828675"/>
                <a:gd name="csY0" fmla="*/ 0 h 257175"/>
                <a:gd name="csX1" fmla="*/ 523875 w 828675"/>
                <a:gd name="csY1" fmla="*/ 76200 h 257175"/>
                <a:gd name="csX2" fmla="*/ 190500 w 828675"/>
                <a:gd name="csY2" fmla="*/ 180975 h 257175"/>
                <a:gd name="csX3" fmla="*/ 0 w 828675"/>
                <a:gd name="csY3" fmla="*/ 257175 h 257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8675" h="257175">
                  <a:moveTo>
                    <a:pt x="828675" y="0"/>
                  </a:moveTo>
                  <a:cubicBezTo>
                    <a:pt x="729456" y="23018"/>
                    <a:pt x="630238" y="46037"/>
                    <a:pt x="523875" y="76200"/>
                  </a:cubicBezTo>
                  <a:cubicBezTo>
                    <a:pt x="417512" y="106363"/>
                    <a:pt x="277812" y="150813"/>
                    <a:pt x="190500" y="180975"/>
                  </a:cubicBezTo>
                  <a:cubicBezTo>
                    <a:pt x="103188" y="211137"/>
                    <a:pt x="51594" y="234156"/>
                    <a:pt x="0" y="257175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cxnSp>
          <p:nvCxnSpPr>
            <p:cNvPr id="36" name="Straight Connector 79"/>
            <p:cNvCxnSpPr/>
            <p:nvPr/>
          </p:nvCxnSpPr>
          <p:spPr>
            <a:xfrm rot="21154748" flipH="1" flipV="1">
              <a:off x="2218356" y="3996514"/>
              <a:ext cx="1690475" cy="519545"/>
            </a:xfrm>
            <a:prstGeom prst="line">
              <a:avLst/>
            </a:prstGeom>
            <a:ln>
              <a:solidFill>
                <a:srgbClr val="7030A0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84"/>
            <p:cNvCxnSpPr/>
            <p:nvPr/>
          </p:nvCxnSpPr>
          <p:spPr>
            <a:xfrm>
              <a:off x="3960856" y="4027689"/>
              <a:ext cx="938639" cy="3261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Freeform: Shape 85"/>
            <p:cNvSpPr/>
            <p:nvPr/>
          </p:nvSpPr>
          <p:spPr>
            <a:xfrm rot="553649" flipV="1">
              <a:off x="4964862" y="4610333"/>
              <a:ext cx="3127791" cy="111625"/>
            </a:xfrm>
            <a:custGeom>
              <a:avLst/>
              <a:gdLst>
                <a:gd name="csX0" fmla="*/ 0 w 3127791"/>
                <a:gd name="csY0" fmla="*/ 328194 h 352743"/>
                <a:gd name="csX1" fmla="*/ 219075 w 3127791"/>
                <a:gd name="csY1" fmla="*/ 251994 h 352743"/>
                <a:gd name="csX2" fmla="*/ 742950 w 3127791"/>
                <a:gd name="csY2" fmla="*/ 109119 h 352743"/>
                <a:gd name="csX3" fmla="*/ 1009650 w 3127791"/>
                <a:gd name="csY3" fmla="*/ 51969 h 352743"/>
                <a:gd name="csX4" fmla="*/ 1314450 w 3127791"/>
                <a:gd name="csY4" fmla="*/ 4344 h 352743"/>
                <a:gd name="csX5" fmla="*/ 1476375 w 3127791"/>
                <a:gd name="csY5" fmla="*/ 4344 h 352743"/>
                <a:gd name="csX6" fmla="*/ 1809750 w 3127791"/>
                <a:gd name="csY6" fmla="*/ 23394 h 352743"/>
                <a:gd name="csX7" fmla="*/ 2324100 w 3127791"/>
                <a:gd name="csY7" fmla="*/ 137694 h 352743"/>
                <a:gd name="csX8" fmla="*/ 2447925 w 3127791"/>
                <a:gd name="csY8" fmla="*/ 166269 h 352743"/>
                <a:gd name="csX9" fmla="*/ 2905125 w 3127791"/>
                <a:gd name="csY9" fmla="*/ 290094 h 352743"/>
                <a:gd name="csX10" fmla="*/ 3105150 w 3127791"/>
                <a:gd name="csY10" fmla="*/ 347244 h 352743"/>
                <a:gd name="csX11" fmla="*/ 3114675 w 3127791"/>
                <a:gd name="csY11" fmla="*/ 347244 h 352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127791" h="352743">
                  <a:moveTo>
                    <a:pt x="0" y="328194"/>
                  </a:moveTo>
                  <a:cubicBezTo>
                    <a:pt x="47625" y="308350"/>
                    <a:pt x="95250" y="288506"/>
                    <a:pt x="219075" y="251994"/>
                  </a:cubicBezTo>
                  <a:cubicBezTo>
                    <a:pt x="342900" y="215481"/>
                    <a:pt x="611188" y="142456"/>
                    <a:pt x="742950" y="109119"/>
                  </a:cubicBezTo>
                  <a:cubicBezTo>
                    <a:pt x="874712" y="75782"/>
                    <a:pt x="914400" y="69431"/>
                    <a:pt x="1009650" y="51969"/>
                  </a:cubicBezTo>
                  <a:cubicBezTo>
                    <a:pt x="1104900" y="34507"/>
                    <a:pt x="1236663" y="12281"/>
                    <a:pt x="1314450" y="4344"/>
                  </a:cubicBezTo>
                  <a:cubicBezTo>
                    <a:pt x="1392238" y="-3594"/>
                    <a:pt x="1393825" y="1169"/>
                    <a:pt x="1476375" y="4344"/>
                  </a:cubicBezTo>
                  <a:cubicBezTo>
                    <a:pt x="1558925" y="7519"/>
                    <a:pt x="1668463" y="1169"/>
                    <a:pt x="1809750" y="23394"/>
                  </a:cubicBezTo>
                  <a:cubicBezTo>
                    <a:pt x="1951038" y="45619"/>
                    <a:pt x="2324100" y="137694"/>
                    <a:pt x="2324100" y="137694"/>
                  </a:cubicBezTo>
                  <a:lnTo>
                    <a:pt x="2447925" y="166269"/>
                  </a:lnTo>
                  <a:lnTo>
                    <a:pt x="2905125" y="290094"/>
                  </a:lnTo>
                  <a:cubicBezTo>
                    <a:pt x="3014662" y="320256"/>
                    <a:pt x="3105150" y="347244"/>
                    <a:pt x="3105150" y="347244"/>
                  </a:cubicBezTo>
                  <a:cubicBezTo>
                    <a:pt x="3140075" y="356769"/>
                    <a:pt x="3127375" y="352006"/>
                    <a:pt x="3114675" y="347244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40" name="Freeform: Shape 88"/>
            <p:cNvSpPr/>
            <p:nvPr/>
          </p:nvSpPr>
          <p:spPr>
            <a:xfrm rot="1309770" flipV="1">
              <a:off x="8310229" y="4072774"/>
              <a:ext cx="3221182" cy="1454804"/>
            </a:xfrm>
            <a:custGeom>
              <a:avLst/>
              <a:gdLst>
                <a:gd name="csX0" fmla="*/ 0 w 3221182"/>
                <a:gd name="csY0" fmla="*/ 0 h 1485900"/>
                <a:gd name="csX1" fmla="*/ 550718 w 3221182"/>
                <a:gd name="csY1" fmla="*/ 176646 h 1485900"/>
                <a:gd name="csX2" fmla="*/ 1007918 w 3221182"/>
                <a:gd name="csY2" fmla="*/ 332510 h 1485900"/>
                <a:gd name="csX3" fmla="*/ 1465118 w 3221182"/>
                <a:gd name="csY3" fmla="*/ 550719 h 1485900"/>
                <a:gd name="csX4" fmla="*/ 1735282 w 3221182"/>
                <a:gd name="csY4" fmla="*/ 685800 h 1485900"/>
                <a:gd name="csX5" fmla="*/ 2286000 w 3221182"/>
                <a:gd name="csY5" fmla="*/ 955964 h 1485900"/>
                <a:gd name="csX6" fmla="*/ 2919846 w 3221182"/>
                <a:gd name="csY6" fmla="*/ 1319646 h 1485900"/>
                <a:gd name="csX7" fmla="*/ 3221182 w 3221182"/>
                <a:gd name="csY7" fmla="*/ 1485900 h 1485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221182" h="1485900">
                  <a:moveTo>
                    <a:pt x="0" y="0"/>
                  </a:moveTo>
                  <a:lnTo>
                    <a:pt x="550718" y="176646"/>
                  </a:lnTo>
                  <a:cubicBezTo>
                    <a:pt x="718704" y="232064"/>
                    <a:pt x="855518" y="270165"/>
                    <a:pt x="1007918" y="332510"/>
                  </a:cubicBezTo>
                  <a:cubicBezTo>
                    <a:pt x="1160318" y="394855"/>
                    <a:pt x="1343891" y="491837"/>
                    <a:pt x="1465118" y="550719"/>
                  </a:cubicBezTo>
                  <a:cubicBezTo>
                    <a:pt x="1586345" y="609601"/>
                    <a:pt x="1735282" y="685800"/>
                    <a:pt x="1735282" y="685800"/>
                  </a:cubicBezTo>
                  <a:cubicBezTo>
                    <a:pt x="1872096" y="753341"/>
                    <a:pt x="2088573" y="850323"/>
                    <a:pt x="2286000" y="955964"/>
                  </a:cubicBezTo>
                  <a:cubicBezTo>
                    <a:pt x="2483427" y="1061605"/>
                    <a:pt x="2763982" y="1231323"/>
                    <a:pt x="2919846" y="1319646"/>
                  </a:cubicBezTo>
                  <a:cubicBezTo>
                    <a:pt x="3075710" y="1407969"/>
                    <a:pt x="3148446" y="1446934"/>
                    <a:pt x="3221182" y="148590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cxnSp>
          <p:nvCxnSpPr>
            <p:cNvPr id="42" name="Straight Connector 95"/>
            <p:cNvCxnSpPr/>
            <p:nvPr/>
          </p:nvCxnSpPr>
          <p:spPr>
            <a:xfrm flipV="1">
              <a:off x="3907740" y="2082884"/>
              <a:ext cx="1039112" cy="4026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Freeform: Shape 101"/>
            <p:cNvSpPr/>
            <p:nvPr/>
          </p:nvSpPr>
          <p:spPr>
            <a:xfrm>
              <a:off x="8187870" y="897945"/>
              <a:ext cx="3127664" cy="1028700"/>
            </a:xfrm>
            <a:custGeom>
              <a:avLst/>
              <a:gdLst>
                <a:gd name="csX0" fmla="*/ 0 w 3127664"/>
                <a:gd name="csY0" fmla="*/ 1028700 h 1028700"/>
                <a:gd name="csX1" fmla="*/ 509155 w 3127664"/>
                <a:gd name="csY1" fmla="*/ 904009 h 1028700"/>
                <a:gd name="csX2" fmla="*/ 1246909 w 3127664"/>
                <a:gd name="csY2" fmla="*/ 654627 h 1028700"/>
                <a:gd name="csX3" fmla="*/ 3127664 w 3127664"/>
                <a:gd name="csY3" fmla="*/ 0 h 1028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127664" h="1028700">
                  <a:moveTo>
                    <a:pt x="0" y="1028700"/>
                  </a:moveTo>
                  <a:cubicBezTo>
                    <a:pt x="150668" y="997527"/>
                    <a:pt x="301337" y="966354"/>
                    <a:pt x="509155" y="904009"/>
                  </a:cubicBezTo>
                  <a:cubicBezTo>
                    <a:pt x="716973" y="841664"/>
                    <a:pt x="1246909" y="654627"/>
                    <a:pt x="1246909" y="654627"/>
                  </a:cubicBezTo>
                  <a:lnTo>
                    <a:pt x="3127664" y="0"/>
                  </a:ln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cxnSp>
          <p:nvCxnSpPr>
            <p:cNvPr id="44" name="Straight Connector 103"/>
            <p:cNvCxnSpPr/>
            <p:nvPr/>
          </p:nvCxnSpPr>
          <p:spPr>
            <a:xfrm flipH="1">
              <a:off x="904942" y="2953313"/>
              <a:ext cx="872454" cy="64969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"/>
            <p:cNvCxnSpPr/>
            <p:nvPr/>
          </p:nvCxnSpPr>
          <p:spPr>
            <a:xfrm flipH="1">
              <a:off x="902449" y="3608704"/>
              <a:ext cx="1344104" cy="1851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Freeform: Shape 47"/>
            <p:cNvSpPr/>
            <p:nvPr/>
          </p:nvSpPr>
          <p:spPr>
            <a:xfrm>
              <a:off x="2358189" y="3411622"/>
              <a:ext cx="5929163" cy="592487"/>
            </a:xfrm>
            <a:custGeom>
              <a:avLst/>
              <a:gdLst>
                <a:gd name="csX0" fmla="*/ 0 w 5929163"/>
                <a:gd name="csY0" fmla="*/ 188226 h 592487"/>
                <a:gd name="csX1" fmla="*/ 683394 w 5929163"/>
                <a:gd name="csY1" fmla="*/ 130475 h 592487"/>
                <a:gd name="csX2" fmla="*/ 952902 w 5929163"/>
                <a:gd name="csY2" fmla="*/ 111224 h 592487"/>
                <a:gd name="csX3" fmla="*/ 2512194 w 5929163"/>
                <a:gd name="csY3" fmla="*/ 5346 h 592487"/>
                <a:gd name="csX4" fmla="*/ 3436219 w 5929163"/>
                <a:gd name="csY4" fmla="*/ 24597 h 592487"/>
                <a:gd name="csX5" fmla="*/ 4138864 w 5929163"/>
                <a:gd name="csY5" fmla="*/ 101599 h 592487"/>
                <a:gd name="csX6" fmla="*/ 5014763 w 5929163"/>
                <a:gd name="csY6" fmla="*/ 313355 h 592487"/>
                <a:gd name="csX7" fmla="*/ 5496026 w 5929163"/>
                <a:gd name="csY7" fmla="*/ 467359 h 592487"/>
                <a:gd name="csX8" fmla="*/ 5929163 w 5929163"/>
                <a:gd name="csY8" fmla="*/ 592487 h 592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929163" h="592487">
                  <a:moveTo>
                    <a:pt x="0" y="188226"/>
                  </a:moveTo>
                  <a:lnTo>
                    <a:pt x="683394" y="130475"/>
                  </a:lnTo>
                  <a:lnTo>
                    <a:pt x="952902" y="111224"/>
                  </a:lnTo>
                  <a:cubicBezTo>
                    <a:pt x="1257702" y="90369"/>
                    <a:pt x="2098308" y="19784"/>
                    <a:pt x="2512194" y="5346"/>
                  </a:cubicBezTo>
                  <a:cubicBezTo>
                    <a:pt x="2926080" y="-9092"/>
                    <a:pt x="3165107" y="8555"/>
                    <a:pt x="3436219" y="24597"/>
                  </a:cubicBezTo>
                  <a:cubicBezTo>
                    <a:pt x="3707331" y="40639"/>
                    <a:pt x="3875773" y="53473"/>
                    <a:pt x="4138864" y="101599"/>
                  </a:cubicBezTo>
                  <a:cubicBezTo>
                    <a:pt x="4401955" y="149725"/>
                    <a:pt x="4788569" y="252395"/>
                    <a:pt x="5014763" y="313355"/>
                  </a:cubicBezTo>
                  <a:cubicBezTo>
                    <a:pt x="5240957" y="374315"/>
                    <a:pt x="5496026" y="467359"/>
                    <a:pt x="5496026" y="467359"/>
                  </a:cubicBezTo>
                  <a:cubicBezTo>
                    <a:pt x="5648426" y="513881"/>
                    <a:pt x="5788794" y="553184"/>
                    <a:pt x="5929163" y="592487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49" name="Oval 51"/>
            <p:cNvSpPr/>
            <p:nvPr/>
          </p:nvSpPr>
          <p:spPr>
            <a:xfrm>
              <a:off x="4048923" y="3474719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50" name="Oval 52"/>
            <p:cNvSpPr/>
            <p:nvPr/>
          </p:nvSpPr>
          <p:spPr>
            <a:xfrm>
              <a:off x="4220573" y="3347986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51" name="Oval 53"/>
            <p:cNvSpPr/>
            <p:nvPr/>
          </p:nvSpPr>
          <p:spPr>
            <a:xfrm>
              <a:off x="4632856" y="3442635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52" name="Oval 54"/>
            <p:cNvSpPr/>
            <p:nvPr/>
          </p:nvSpPr>
          <p:spPr>
            <a:xfrm>
              <a:off x="4794881" y="3325527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cxnSp>
          <p:nvCxnSpPr>
            <p:cNvPr id="53" name="Straight Connector 62"/>
            <p:cNvCxnSpPr/>
            <p:nvPr/>
          </p:nvCxnSpPr>
          <p:spPr>
            <a:xfrm>
              <a:off x="8333255" y="4009718"/>
              <a:ext cx="3407573" cy="10937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74"/>
            <p:cNvCxnSpPr/>
            <p:nvPr/>
          </p:nvCxnSpPr>
          <p:spPr>
            <a:xfrm flipV="1">
              <a:off x="3925561" y="3407342"/>
              <a:ext cx="1152519" cy="6715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4" name="直接连接符 103"/>
          <p:cNvCxnSpPr/>
          <p:nvPr/>
        </p:nvCxnSpPr>
        <p:spPr>
          <a:xfrm>
            <a:off x="8200427" y="2487349"/>
            <a:ext cx="0" cy="183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>
            <a:off x="8439847" y="2487349"/>
            <a:ext cx="0" cy="183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>
            <a:off x="9211953" y="2498792"/>
            <a:ext cx="0" cy="183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9451373" y="2498792"/>
            <a:ext cx="0" cy="183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10411729" y="2514200"/>
            <a:ext cx="0" cy="183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>
          <a:xfrm>
            <a:off x="10651149" y="2514200"/>
            <a:ext cx="0" cy="183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: 圆角 112"/>
          <p:cNvSpPr/>
          <p:nvPr/>
        </p:nvSpPr>
        <p:spPr>
          <a:xfrm>
            <a:off x="10965547" y="3276498"/>
            <a:ext cx="926525" cy="32227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矩形: 圆角 114"/>
          <p:cNvSpPr/>
          <p:nvPr/>
        </p:nvSpPr>
        <p:spPr>
          <a:xfrm>
            <a:off x="10965547" y="5301844"/>
            <a:ext cx="926525" cy="32227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6040256" y="6244441"/>
            <a:ext cx="1261089" cy="32227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矩形: 圆角 118"/>
          <p:cNvSpPr/>
          <p:nvPr/>
        </p:nvSpPr>
        <p:spPr>
          <a:xfrm>
            <a:off x="4608019" y="5003730"/>
            <a:ext cx="595322" cy="32227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矩形: 圆角 120"/>
          <p:cNvSpPr/>
          <p:nvPr/>
        </p:nvSpPr>
        <p:spPr>
          <a:xfrm>
            <a:off x="1756942" y="4510348"/>
            <a:ext cx="595322" cy="32227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TV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: 圆角 120"/>
          <p:cNvSpPr/>
          <p:nvPr/>
        </p:nvSpPr>
        <p:spPr>
          <a:xfrm>
            <a:off x="1356995" y="2156460"/>
            <a:ext cx="1264920" cy="30162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 Track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: 圆角 120"/>
          <p:cNvSpPr/>
          <p:nvPr/>
        </p:nvSpPr>
        <p:spPr>
          <a:xfrm>
            <a:off x="3925570" y="1296670"/>
            <a:ext cx="1264920" cy="30162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track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20"/>
          <p:cNvSpPr/>
          <p:nvPr/>
        </p:nvSpPr>
        <p:spPr>
          <a:xfrm>
            <a:off x="8797925" y="526415"/>
            <a:ext cx="1264920" cy="30162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track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/>
          <p:cNvCxnSpPr>
            <a:endCxn id="12" idx="2"/>
          </p:cNvCxnSpPr>
          <p:nvPr/>
        </p:nvCxnSpPr>
        <p:spPr>
          <a:xfrm flipH="1" flipV="1">
            <a:off x="9430385" y="828040"/>
            <a:ext cx="466725" cy="68199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ysDot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4558030" y="1598295"/>
            <a:ext cx="372745" cy="75311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ysDot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3" idx="2"/>
          </p:cNvCxnSpPr>
          <p:nvPr/>
        </p:nvCxnSpPr>
        <p:spPr>
          <a:xfrm flipH="1" flipV="1">
            <a:off x="1989455" y="2458085"/>
            <a:ext cx="464820" cy="56705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ysDot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矩形: 圆角 120"/>
          <p:cNvSpPr/>
          <p:nvPr/>
        </p:nvSpPr>
        <p:spPr>
          <a:xfrm>
            <a:off x="5399405" y="329565"/>
            <a:ext cx="1264920" cy="301625"/>
          </a:xfrm>
          <a:prstGeom prst="roundRect">
            <a:avLst/>
          </a:prstGeom>
          <a:solidFill>
            <a:srgbClr val="0707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track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H="1" flipV="1">
            <a:off x="6040120" y="631190"/>
            <a:ext cx="186055" cy="172021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ysDot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矩形: 圆角 120"/>
          <p:cNvSpPr/>
          <p:nvPr/>
        </p:nvSpPr>
        <p:spPr>
          <a:xfrm>
            <a:off x="5911850" y="5100320"/>
            <a:ext cx="1930400" cy="301625"/>
          </a:xfrm>
          <a:prstGeom prst="roundRect">
            <a:avLst/>
          </a:prstGeom>
          <a:solidFill>
            <a:srgbClr val="0707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Downstream track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/>
          <p:cNvCxnSpPr>
            <a:stCxn id="38" idx="5"/>
            <a:endCxn id="23" idx="0"/>
          </p:cNvCxnSpPr>
          <p:nvPr/>
        </p:nvCxnSpPr>
        <p:spPr>
          <a:xfrm>
            <a:off x="6558915" y="4476750"/>
            <a:ext cx="318135" cy="62357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ysDot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矩形: 圆角 120"/>
          <p:cNvSpPr/>
          <p:nvPr/>
        </p:nvSpPr>
        <p:spPr>
          <a:xfrm>
            <a:off x="2127885" y="5401945"/>
            <a:ext cx="1930400" cy="301625"/>
          </a:xfrm>
          <a:prstGeom prst="roundRect">
            <a:avLst/>
          </a:prstGeom>
          <a:solidFill>
            <a:srgbClr val="0707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Upstream track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Straight Arrow Connector 25"/>
          <p:cNvCxnSpPr>
            <a:endCxn id="25" idx="0"/>
          </p:cNvCxnSpPr>
          <p:nvPr/>
        </p:nvCxnSpPr>
        <p:spPr>
          <a:xfrm flipH="1">
            <a:off x="3093085" y="4077335"/>
            <a:ext cx="504825" cy="132461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ysDot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E60BB-3A46-4D7B-AFA4-FB6B303D35FB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266699" y="110232"/>
            <a:ext cx="8032173" cy="59372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0066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Current tracking sequence status</a:t>
            </a:r>
            <a:endParaRPr lang="zh-CN" altLang="en-US" sz="2800" dirty="0">
              <a:solidFill>
                <a:srgbClr val="0066FF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36583" y="158113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050582" y="1916724"/>
            <a:ext cx="1650406" cy="7272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Track (with UP)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左大括号 13"/>
          <p:cNvSpPr/>
          <p:nvPr/>
        </p:nvSpPr>
        <p:spPr>
          <a:xfrm>
            <a:off x="2882290" y="834856"/>
            <a:ext cx="387927" cy="3077294"/>
          </a:xfrm>
          <a:prstGeom prst="leftBrace">
            <a:avLst>
              <a:gd name="adj1" fmla="val 65476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680360" y="973732"/>
            <a:ext cx="1450109" cy="4525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Backward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3674602" y="2054056"/>
            <a:ext cx="1450109" cy="4525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3455079" y="2939425"/>
            <a:ext cx="1900672" cy="8616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woUP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withUP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5645476" y="798468"/>
            <a:ext cx="926525" cy="32227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5654712" y="1258853"/>
            <a:ext cx="926525" cy="32227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5638115" y="1916724"/>
            <a:ext cx="926525" cy="32227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5647351" y="2377109"/>
            <a:ext cx="926525" cy="32227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5628879" y="3018369"/>
            <a:ext cx="926525" cy="32227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5638115" y="3478754"/>
            <a:ext cx="926525" cy="32227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左大括号 33"/>
          <p:cNvSpPr/>
          <p:nvPr/>
        </p:nvSpPr>
        <p:spPr>
          <a:xfrm>
            <a:off x="5445456" y="798469"/>
            <a:ext cx="114005" cy="782662"/>
          </a:xfrm>
          <a:prstGeom prst="leftBrace">
            <a:avLst>
              <a:gd name="adj1" fmla="val 65476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左大括号 38"/>
          <p:cNvSpPr/>
          <p:nvPr/>
        </p:nvSpPr>
        <p:spPr>
          <a:xfrm>
            <a:off x="5438094" y="1916724"/>
            <a:ext cx="114005" cy="782662"/>
          </a:xfrm>
          <a:prstGeom prst="leftBrace">
            <a:avLst>
              <a:gd name="adj1" fmla="val 65476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左大括号 40"/>
          <p:cNvSpPr/>
          <p:nvPr/>
        </p:nvSpPr>
        <p:spPr>
          <a:xfrm>
            <a:off x="5432750" y="2999127"/>
            <a:ext cx="114005" cy="782662"/>
          </a:xfrm>
          <a:prstGeom prst="leftBrace">
            <a:avLst>
              <a:gd name="adj1" fmla="val 65476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右大括号 44"/>
          <p:cNvSpPr/>
          <p:nvPr/>
        </p:nvSpPr>
        <p:spPr>
          <a:xfrm>
            <a:off x="6604741" y="703957"/>
            <a:ext cx="387927" cy="3208193"/>
          </a:xfrm>
          <a:prstGeom prst="rightBrace">
            <a:avLst>
              <a:gd name="adj1" fmla="val 62375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7040599" y="1891639"/>
            <a:ext cx="1753249" cy="79195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Algorithm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箭头: 右 54"/>
          <p:cNvSpPr/>
          <p:nvPr/>
        </p:nvSpPr>
        <p:spPr>
          <a:xfrm>
            <a:off x="8909303" y="2181508"/>
            <a:ext cx="572656" cy="2676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: 圆角 56"/>
          <p:cNvSpPr/>
          <p:nvPr/>
        </p:nvSpPr>
        <p:spPr>
          <a:xfrm>
            <a:off x="9600551" y="1891638"/>
            <a:ext cx="1753249" cy="79195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Kalman filter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1050581" y="5434710"/>
            <a:ext cx="1650406" cy="7272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Downstream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: 圆角 65"/>
          <p:cNvSpPr/>
          <p:nvPr/>
        </p:nvSpPr>
        <p:spPr>
          <a:xfrm>
            <a:off x="3915535" y="5540433"/>
            <a:ext cx="1450109" cy="4525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Backward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矩形: 圆角 66"/>
          <p:cNvSpPr/>
          <p:nvPr/>
        </p:nvSpPr>
        <p:spPr>
          <a:xfrm>
            <a:off x="5610407" y="5379294"/>
            <a:ext cx="926525" cy="32227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矩形: 圆角 67"/>
          <p:cNvSpPr/>
          <p:nvPr/>
        </p:nvSpPr>
        <p:spPr>
          <a:xfrm>
            <a:off x="5619643" y="5839679"/>
            <a:ext cx="926525" cy="32227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左大括号 68"/>
          <p:cNvSpPr/>
          <p:nvPr/>
        </p:nvSpPr>
        <p:spPr>
          <a:xfrm>
            <a:off x="5410387" y="5379295"/>
            <a:ext cx="114005" cy="782662"/>
          </a:xfrm>
          <a:prstGeom prst="leftBrace">
            <a:avLst>
              <a:gd name="adj1" fmla="val 65476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: 圆角 75"/>
          <p:cNvSpPr/>
          <p:nvPr/>
        </p:nvSpPr>
        <p:spPr>
          <a:xfrm>
            <a:off x="8945679" y="5369999"/>
            <a:ext cx="1753249" cy="79195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De-clone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Track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箭头: 右 76"/>
          <p:cNvSpPr/>
          <p:nvPr/>
        </p:nvSpPr>
        <p:spPr>
          <a:xfrm>
            <a:off x="6752634" y="5632158"/>
            <a:ext cx="1857966" cy="267637"/>
          </a:xfrm>
          <a:prstGeom prst="rightArrow">
            <a:avLst>
              <a:gd name="adj1" fmla="val 50000"/>
              <a:gd name="adj2" fmla="val 1027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/>
          <p:cNvSpPr txBox="1"/>
          <p:nvPr/>
        </p:nvSpPr>
        <p:spPr>
          <a:xfrm>
            <a:off x="10337600" y="171014"/>
            <a:ext cx="1587701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Lumi 1.0E34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 B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92693" y="4977517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New!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箭头: 右 18"/>
          <p:cNvSpPr/>
          <p:nvPr/>
        </p:nvSpPr>
        <p:spPr>
          <a:xfrm rot="8208951">
            <a:off x="7215608" y="4062723"/>
            <a:ext cx="3642357" cy="267637"/>
          </a:xfrm>
          <a:prstGeom prst="rightArrow">
            <a:avLst>
              <a:gd name="adj1" fmla="val 50000"/>
              <a:gd name="adj2" fmla="val 1172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/>
          <p:cNvSpPr/>
          <p:nvPr/>
        </p:nvSpPr>
        <p:spPr>
          <a:xfrm>
            <a:off x="2819013" y="5651552"/>
            <a:ext cx="1001271" cy="267637"/>
          </a:xfrm>
          <a:prstGeom prst="rightArrow">
            <a:avLst>
              <a:gd name="adj1" fmla="val 50000"/>
              <a:gd name="adj2" fmla="val 1027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E60BB-3A46-4D7B-AFA4-FB6B303D35FB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266699" y="110232"/>
            <a:ext cx="8032173" cy="59372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0066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Regular option file </a:t>
            </a:r>
            <a:endParaRPr lang="zh-CN" altLang="en-US" sz="2800" dirty="0">
              <a:solidFill>
                <a:srgbClr val="0066FF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0337600" y="171014"/>
            <a:ext cx="1587701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Lumi 1.0E34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 B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7CA1-58B5-493E-9647-765CEF0FA2E2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E60BB-3A46-4D7B-AFA4-FB6B303D35FB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4438650" y="3132137"/>
            <a:ext cx="3314700" cy="59372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4000" dirty="0">
                <a:solidFill>
                  <a:srgbClr val="0066FF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BACKUP</a:t>
            </a:r>
            <a:endParaRPr lang="zh-CN" altLang="en-US" sz="4000" dirty="0">
              <a:solidFill>
                <a:srgbClr val="0066FF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</Words>
  <Application>WPS Presentation</Application>
  <PresentationFormat>宽屏</PresentationFormat>
  <Paragraphs>137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HarmonyOS Sans SC</vt:lpstr>
      <vt:lpstr>Times New Roman</vt:lpstr>
      <vt:lpstr>等线</vt:lpstr>
      <vt:lpstr>微软雅黑</vt:lpstr>
      <vt:lpstr>Arial Unicode MS</vt:lpstr>
      <vt:lpstr>等线 Light</vt:lpstr>
      <vt:lpstr>Office 主题​​</vt:lpstr>
      <vt:lpstr>1_Office 主题​​</vt:lpstr>
      <vt:lpstr>Tracking sequence</vt:lpstr>
      <vt:lpstr>Sub-Detector</vt:lpstr>
      <vt:lpstr>Sub-Detector</vt:lpstr>
      <vt:lpstr>Current tracking sequence status</vt:lpstr>
      <vt:lpstr>Regular option file </vt:lpstr>
      <vt:lpstr>BACKUP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逸昇 傅</dc:creator>
  <cp:lastModifiedBy>easonfu</cp:lastModifiedBy>
  <cp:revision>140</cp:revision>
  <dcterms:created xsi:type="dcterms:W3CDTF">2026-07-17T22:35:31Z</dcterms:created>
  <dcterms:modified xsi:type="dcterms:W3CDTF">2026-07-17T22:35:31Z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